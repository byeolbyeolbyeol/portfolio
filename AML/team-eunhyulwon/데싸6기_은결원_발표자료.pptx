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73" r:id="rId12"/>
    <p:sldId id="264" r:id="rId13"/>
    <p:sldId id="274" r:id="rId14"/>
    <p:sldId id="265" r:id="rId15"/>
    <p:sldId id="276" r:id="rId16"/>
    <p:sldId id="266" r:id="rId17"/>
    <p:sldId id="267" r:id="rId18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748"/>
    <a:srgbClr val="E53E3E"/>
    <a:srgbClr val="E8595A"/>
    <a:srgbClr val="2B6CB0"/>
    <a:srgbClr val="535E70"/>
    <a:srgbClr val="EBF8FF"/>
    <a:srgbClr val="344D70"/>
    <a:srgbClr val="596473"/>
    <a:srgbClr val="85919D"/>
    <a:srgbClr val="EA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4" autoAdjust="0"/>
    <p:restoredTop sz="54678" autoAdjust="0"/>
  </p:normalViewPr>
  <p:slideViewPr>
    <p:cSldViewPr snapToGrid="0" snapToObjects="1">
      <p:cViewPr varScale="1">
        <p:scale>
          <a:sx n="52" d="100"/>
          <a:sy n="52" d="100"/>
        </p:scale>
        <p:origin x="297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65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049860-F0C9-422B-8BCC-CBF945E6D2C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821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00F1-CB42-D7FA-1169-E390BFE83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102FE4-41EF-DF00-4F9B-414A83C06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B2A204-5931-A009-4D35-F02EFE0DD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9CAF60-EFE1-1AEF-9A8A-340946650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049860-F0C9-422B-8BCC-CBF945E6D2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276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C20F2-2A6C-D163-6CEB-04714B96D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BD8DC-E014-AD77-A253-97CE84A54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D2180-2B62-6E90-EA3C-9EE3A2E6D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7FFAD-7073-0A36-4920-788B66C8A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19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dirty="0">
              <a:solidFill>
                <a:srgbClr val="E53E3E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>
              <a:solidFill>
                <a:srgbClr val="4A556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DBF12-4B07-BEA4-0383-A28F957BA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2628F-B31C-FED6-18B7-026B0146B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3E3FA-DF2D-7BAD-0A5D-8A21BA1BD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75E53-0959-255F-3ED1-4172337AA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27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CF022-7491-DCBC-F6BE-41C2CA736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9CC5E-08BB-7A68-F6F5-B1D5799EC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1E2E39-C803-37BA-180C-371A899E8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65C3C-F171-85A5-99AB-1199ADD303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558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20EE6-3E4D-6CC6-AB55-A6A3CEA07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7F737-57A7-5257-0DEC-6D2CFEF8F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22703-C88D-68E0-78E2-C2CBA6DA1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B806B-F116-D862-4E68-D90693CF61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04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75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5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5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57.png"/><Relationship Id="rId5" Type="http://schemas.openxmlformats.org/officeDocument/2006/relationships/image" Target="../media/image52.png"/><Relationship Id="rId10" Type="http://schemas.openxmlformats.org/officeDocument/2006/relationships/image" Target="../media/image56.png"/><Relationship Id="rId4" Type="http://schemas.openxmlformats.org/officeDocument/2006/relationships/image" Target="../media/image24.png"/><Relationship Id="rId9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0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8.png"/><Relationship Id="rId5" Type="http://schemas.openxmlformats.org/officeDocument/2006/relationships/image" Target="../media/image24.png"/><Relationship Id="rId15" Type="http://schemas.openxmlformats.org/officeDocument/2006/relationships/image" Target="../media/image61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57.png"/><Relationship Id="rId1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image" Target="../media/image62.png"/><Relationship Id="rId21" Type="http://schemas.openxmlformats.org/officeDocument/2006/relationships/image" Target="../media/image80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23" Type="http://schemas.openxmlformats.org/officeDocument/2006/relationships/image" Target="../media/image5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82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81.png"/><Relationship Id="rId5" Type="http://schemas.openxmlformats.org/officeDocument/2006/relationships/image" Target="../media/image24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57.png"/><Relationship Id="rId14" Type="http://schemas.openxmlformats.org/officeDocument/2006/relationships/image" Target="../media/image8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852306" y="2196122"/>
            <a:ext cx="8487081" cy="1943100"/>
          </a:xfrm>
          <a:prstGeom prst="rect">
            <a:avLst/>
          </a:prstGeom>
        </p:spPr>
        <p:txBody>
          <a:bodyPr lIns="0" tIns="107865" rIns="0" bIns="0" rtlCol="0" anchor="t"/>
          <a:lstStyle/>
          <a:p>
            <a:pPr lvl="0" algn="ctr">
              <a:lnSpc>
                <a:spcPct val="92960"/>
              </a:lnSpc>
            </a:pPr>
            <a:r>
              <a:rPr lang="en-US" sz="5400" b="1" dirty="0">
                <a:solidFill>
                  <a:srgbClr val="173D79"/>
                </a:solidFill>
                <a:latin typeface="Pretendard SemiBold"/>
                <a:ea typeface="Pretendard SemiBold"/>
                <a:cs typeface="Pretendard SemiBold"/>
              </a:rPr>
              <a:t>Graph </a:t>
            </a:r>
            <a:r>
              <a:rPr lang="ko-KR" altLang="en-US" sz="5400" b="1" dirty="0">
                <a:solidFill>
                  <a:srgbClr val="173D79"/>
                </a:solidFill>
                <a:latin typeface="Pretendard SemiBold"/>
                <a:ea typeface="Pretendard SemiBold"/>
                <a:cs typeface="Pretendard SemiBold"/>
              </a:rPr>
              <a:t>방법론을 활용한</a:t>
            </a:r>
          </a:p>
          <a:p>
            <a:pPr lvl="0" algn="ctr">
              <a:lnSpc>
                <a:spcPct val="92960"/>
              </a:lnSpc>
            </a:pPr>
            <a:r>
              <a:rPr lang="en-US" sz="5400" b="1" dirty="0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AML </a:t>
            </a:r>
            <a:r>
              <a:rPr lang="ko-KR" altLang="en-US" sz="5400" b="1" dirty="0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탐지 모델 성능 개선</a:t>
            </a:r>
            <a:endParaRPr lang="en-US" sz="5400" b="1" dirty="0">
              <a:solidFill>
                <a:srgbClr val="595959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52306" y="4012222"/>
            <a:ext cx="8487081" cy="3111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b="1" dirty="0">
                <a:solidFill>
                  <a:srgbClr val="595959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Regular"/>
              </a:rPr>
              <a:t>거래 관계 구조 분석을 통한 자금 세탁 의심 계좌 탐지 고도화 연구</a:t>
            </a:r>
            <a:endParaRPr lang="en-US" altLang="ko-KR" b="1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200" y="5581650"/>
            <a:ext cx="2724150" cy="45085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200" y="5581650"/>
            <a:ext cx="1200150" cy="4508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31300" y="5645150"/>
            <a:ext cx="11303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16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참여 기업</a:t>
            </a:r>
            <a:endParaRPr lang="en-US" sz="16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93350" y="5660140"/>
            <a:ext cx="13589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16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SemiBold"/>
              </a:rPr>
              <a:t>금융결제원</a:t>
            </a:r>
            <a:endParaRPr lang="en-US" sz="1600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Semi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4950" y="6102350"/>
            <a:ext cx="2692400" cy="45085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102350"/>
            <a:ext cx="1200150" cy="45085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144000" y="6180840"/>
            <a:ext cx="11303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16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발표</a:t>
            </a:r>
            <a:r>
              <a:rPr lang="en-US" sz="16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일</a:t>
            </a:r>
          </a:p>
        </p:txBody>
      </p:sp>
      <p:pic>
        <p:nvPicPr>
          <p:cNvPr id="29" name="Picture 5">
            <a:extLst>
              <a:ext uri="{FF2B5EF4-FFF2-40B4-BE49-F238E27FC236}">
                <a16:creationId xmlns:a16="http://schemas.microsoft.com/office/drawing/2014/main" id="{30F9EE09-A3AC-6C8D-7601-D2A01DB67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200" y="5073650"/>
            <a:ext cx="2724150" cy="450850"/>
          </a:xfrm>
          <a:prstGeom prst="rect">
            <a:avLst/>
          </a:prstGeom>
        </p:spPr>
      </p:pic>
      <p:pic>
        <p:nvPicPr>
          <p:cNvPr id="30" name="Picture 6">
            <a:extLst>
              <a:ext uri="{FF2B5EF4-FFF2-40B4-BE49-F238E27FC236}">
                <a16:creationId xmlns:a16="http://schemas.microsoft.com/office/drawing/2014/main" id="{F02153E2-7D08-CFD1-E6D7-935F2D543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200" y="5073650"/>
            <a:ext cx="1200150" cy="450850"/>
          </a:xfrm>
          <a:prstGeom prst="rect">
            <a:avLst/>
          </a:prstGeom>
        </p:spPr>
      </p:pic>
      <p:sp>
        <p:nvSpPr>
          <p:cNvPr id="31" name="TextBox 7">
            <a:extLst>
              <a:ext uri="{FF2B5EF4-FFF2-40B4-BE49-F238E27FC236}">
                <a16:creationId xmlns:a16="http://schemas.microsoft.com/office/drawing/2014/main" id="{4337358D-3BC5-3702-D383-8EDD6DB564FF}"/>
              </a:ext>
            </a:extLst>
          </p:cNvPr>
          <p:cNvSpPr txBox="1"/>
          <p:nvPr/>
        </p:nvSpPr>
        <p:spPr>
          <a:xfrm>
            <a:off x="9131300" y="5137150"/>
            <a:ext cx="11303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16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팀명</a:t>
            </a:r>
            <a:endParaRPr lang="en-US" sz="16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A72BA411-B5E0-2BB0-239F-9769ACC34CEB}"/>
              </a:ext>
            </a:extLst>
          </p:cNvPr>
          <p:cNvSpPr txBox="1"/>
          <p:nvPr/>
        </p:nvSpPr>
        <p:spPr>
          <a:xfrm>
            <a:off x="10293350" y="5152140"/>
            <a:ext cx="13589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1600" dirty="0" err="1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SemiBold"/>
              </a:rPr>
              <a:t>은결원</a:t>
            </a:r>
            <a:endParaRPr lang="en-US" sz="1600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SemiBold"/>
            </a:endParaRP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1A9E6F90-1CE1-F5EB-17C9-857AE01E967B}"/>
              </a:ext>
            </a:extLst>
          </p:cNvPr>
          <p:cNvSpPr txBox="1"/>
          <p:nvPr/>
        </p:nvSpPr>
        <p:spPr>
          <a:xfrm>
            <a:off x="10293350" y="6180840"/>
            <a:ext cx="13589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SemiBold"/>
              </a:rPr>
              <a:t>26.03.16</a:t>
            </a:r>
            <a:endParaRPr lang="en-US" sz="1600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SemiBold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BE859081-FFF9-8904-AC76-74114E0D191B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1EC2723D-2E13-5AB5-BB08-A20E8556985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157871AD-3464-91A8-1915-D18BBE51FC18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17"/>
    </mc:Choice>
    <mc:Fallback xmlns="">
      <p:transition spd="slow" advTm="1311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24C6F-0636-76C2-C94B-0DBE4AD9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36BC085D-5AEF-9B3E-E763-84491E184E3A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F75B129D-B1AD-D752-BACD-4AA54490B2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BB9F0462-ED00-A713-245E-C035044379E9}"/>
              </a:ext>
            </a:extLst>
          </p:cNvPr>
          <p:cNvSpPr txBox="1"/>
          <p:nvPr/>
        </p:nvSpPr>
        <p:spPr>
          <a:xfrm>
            <a:off x="381305" y="190195"/>
            <a:ext cx="7734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Part0. </a:t>
            </a:r>
            <a:r>
              <a:rPr lang="ko-KR" alt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소개</a:t>
            </a:r>
            <a:endParaRPr lang="en-US" sz="21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16F55FC-00DD-C448-3EF1-25BE7DE934C4}"/>
              </a:ext>
            </a:extLst>
          </p:cNvPr>
          <p:cNvSpPr txBox="1"/>
          <p:nvPr/>
        </p:nvSpPr>
        <p:spPr>
          <a:xfrm>
            <a:off x="381305" y="1041759"/>
            <a:ext cx="4858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은결원</a:t>
            </a:r>
            <a:r>
              <a:rPr lang="ko-KR" altLang="en-US" sz="2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팀 구성 및 역할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3BF61BC-19AB-C618-239C-7F4E7567F4E7}"/>
              </a:ext>
            </a:extLst>
          </p:cNvPr>
          <p:cNvGrpSpPr/>
          <p:nvPr/>
        </p:nvGrpSpPr>
        <p:grpSpPr>
          <a:xfrm>
            <a:off x="470312" y="1703123"/>
            <a:ext cx="11251069" cy="4502805"/>
            <a:chOff x="516216" y="1703125"/>
            <a:chExt cx="11251069" cy="4817595"/>
          </a:xfrm>
        </p:grpSpPr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62359C99-8A59-1A7B-8798-418A5B0479B5}"/>
                </a:ext>
              </a:extLst>
            </p:cNvPr>
            <p:cNvSpPr/>
            <p:nvPr/>
          </p:nvSpPr>
          <p:spPr>
            <a:xfrm>
              <a:off x="516216" y="1703127"/>
              <a:ext cx="2639224" cy="4817593"/>
            </a:xfrm>
            <a:prstGeom prst="roundRect">
              <a:avLst>
                <a:gd name="adj" fmla="val 862"/>
              </a:avLst>
            </a:prstGeom>
            <a:solidFill>
              <a:srgbClr val="FFFFFF"/>
            </a:solidFill>
            <a:ln w="12700">
              <a:solidFill>
                <a:srgbClr val="CBD5E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ED8DC563-6995-BF16-8C71-658D0FADBC6C}"/>
                </a:ext>
              </a:extLst>
            </p:cNvPr>
            <p:cNvSpPr/>
            <p:nvPr/>
          </p:nvSpPr>
          <p:spPr>
            <a:xfrm>
              <a:off x="3386831" y="1703126"/>
              <a:ext cx="2639224" cy="4817593"/>
            </a:xfrm>
            <a:prstGeom prst="roundRect">
              <a:avLst>
                <a:gd name="adj" fmla="val 862"/>
              </a:avLst>
            </a:prstGeom>
            <a:solidFill>
              <a:srgbClr val="FFFFFF"/>
            </a:solidFill>
            <a:ln w="12700">
              <a:solidFill>
                <a:srgbClr val="CBD5E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3">
              <a:extLst>
                <a:ext uri="{FF2B5EF4-FFF2-40B4-BE49-F238E27FC236}">
                  <a16:creationId xmlns:a16="http://schemas.microsoft.com/office/drawing/2014/main" id="{D8ADC771-ED33-8917-4C59-E6F444D8FBFD}"/>
                </a:ext>
              </a:extLst>
            </p:cNvPr>
            <p:cNvSpPr/>
            <p:nvPr/>
          </p:nvSpPr>
          <p:spPr>
            <a:xfrm>
              <a:off x="6257446" y="1703125"/>
              <a:ext cx="2639224" cy="4817593"/>
            </a:xfrm>
            <a:prstGeom prst="roundRect">
              <a:avLst>
                <a:gd name="adj" fmla="val 862"/>
              </a:avLst>
            </a:prstGeom>
            <a:solidFill>
              <a:srgbClr val="FFFFFF"/>
            </a:solidFill>
            <a:ln w="12700">
              <a:solidFill>
                <a:srgbClr val="CBD5E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3642A7BF-66CA-7C3E-B093-231E533D5E23}"/>
                </a:ext>
              </a:extLst>
            </p:cNvPr>
            <p:cNvSpPr/>
            <p:nvPr/>
          </p:nvSpPr>
          <p:spPr>
            <a:xfrm>
              <a:off x="9128061" y="1703127"/>
              <a:ext cx="2639224" cy="4817593"/>
            </a:xfrm>
            <a:prstGeom prst="roundRect">
              <a:avLst>
                <a:gd name="adj" fmla="val 862"/>
              </a:avLst>
            </a:prstGeom>
            <a:solidFill>
              <a:srgbClr val="FFFFFF"/>
            </a:solidFill>
            <a:ln w="12700">
              <a:solidFill>
                <a:srgbClr val="CBD5E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" name="Text 23">
            <a:extLst>
              <a:ext uri="{FF2B5EF4-FFF2-40B4-BE49-F238E27FC236}">
                <a16:creationId xmlns:a16="http://schemas.microsoft.com/office/drawing/2014/main" id="{D669FE2E-0C80-8BFA-7CB3-23E1AF041526}"/>
              </a:ext>
            </a:extLst>
          </p:cNvPr>
          <p:cNvSpPr txBox="1"/>
          <p:nvPr/>
        </p:nvSpPr>
        <p:spPr>
          <a:xfrm>
            <a:off x="267005" y="6462181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FDAEEEE-2C93-5C96-9437-32C24D01E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059" y="2126096"/>
            <a:ext cx="1728000" cy="17280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6CB5DB1C-8FC5-85BF-E5AB-31772C5CD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368" y="2126096"/>
            <a:ext cx="1728000" cy="172800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93620EA1-B375-A1B3-CF1A-AA1B7620A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769" y="2128191"/>
            <a:ext cx="1728000" cy="17280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D414432-6D2F-33E7-2F65-639698BD37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924" y="2128191"/>
            <a:ext cx="1728000" cy="1728000"/>
          </a:xfrm>
          <a:prstGeom prst="rect">
            <a:avLst/>
          </a:prstGeom>
        </p:spPr>
      </p:pic>
      <p:sp>
        <p:nvSpPr>
          <p:cNvPr id="42" name="Text 17">
            <a:extLst>
              <a:ext uri="{FF2B5EF4-FFF2-40B4-BE49-F238E27FC236}">
                <a16:creationId xmlns:a16="http://schemas.microsoft.com/office/drawing/2014/main" id="{446E9F1B-1762-908E-B6CE-BA0FB89031E7}"/>
              </a:ext>
            </a:extLst>
          </p:cNvPr>
          <p:cNvSpPr txBox="1"/>
          <p:nvPr/>
        </p:nvSpPr>
        <p:spPr>
          <a:xfrm>
            <a:off x="738929" y="4731279"/>
            <a:ext cx="2161949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조은별</a:t>
            </a:r>
            <a:r>
              <a:rPr lang="en-US" altLang="ko-KR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(Strategist)</a:t>
            </a:r>
            <a:endParaRPr lang="ko-KR" altLang="en-US" b="1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pic>
        <p:nvPicPr>
          <p:cNvPr id="43" name="Picture 19">
            <a:extLst>
              <a:ext uri="{FF2B5EF4-FFF2-40B4-BE49-F238E27FC236}">
                <a16:creationId xmlns:a16="http://schemas.microsoft.com/office/drawing/2014/main" id="{19D7A958-ECEB-0DBF-5CF6-BC5C18FD4B3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" r="76680" b="-149996"/>
          <a:stretch>
            <a:fillRect/>
          </a:stretch>
        </p:blipFill>
        <p:spPr>
          <a:xfrm>
            <a:off x="708558" y="4441960"/>
            <a:ext cx="2161949" cy="63500"/>
          </a:xfrm>
          <a:prstGeom prst="rect">
            <a:avLst/>
          </a:prstGeom>
        </p:spPr>
      </p:pic>
      <p:pic>
        <p:nvPicPr>
          <p:cNvPr id="44" name="Picture 19">
            <a:extLst>
              <a:ext uri="{FF2B5EF4-FFF2-40B4-BE49-F238E27FC236}">
                <a16:creationId xmlns:a16="http://schemas.microsoft.com/office/drawing/2014/main" id="{8BDA5372-6C18-51A1-9732-3AA1E4D6422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" r="76680" b="-149996"/>
          <a:stretch>
            <a:fillRect/>
          </a:stretch>
        </p:blipFill>
        <p:spPr>
          <a:xfrm>
            <a:off x="3579564" y="4441960"/>
            <a:ext cx="2161949" cy="63500"/>
          </a:xfrm>
          <a:prstGeom prst="rect">
            <a:avLst/>
          </a:prstGeom>
        </p:spPr>
      </p:pic>
      <p:pic>
        <p:nvPicPr>
          <p:cNvPr id="45" name="Picture 19">
            <a:extLst>
              <a:ext uri="{FF2B5EF4-FFF2-40B4-BE49-F238E27FC236}">
                <a16:creationId xmlns:a16="http://schemas.microsoft.com/office/drawing/2014/main" id="{B66DE324-4F8C-C3ED-092F-6F8D77C000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" r="76680" b="-149996"/>
          <a:stretch>
            <a:fillRect/>
          </a:stretch>
        </p:blipFill>
        <p:spPr>
          <a:xfrm>
            <a:off x="6450179" y="4441960"/>
            <a:ext cx="2161949" cy="63500"/>
          </a:xfrm>
          <a:prstGeom prst="rect">
            <a:avLst/>
          </a:prstGeom>
        </p:spPr>
      </p:pic>
      <p:pic>
        <p:nvPicPr>
          <p:cNvPr id="46" name="Picture 19">
            <a:extLst>
              <a:ext uri="{FF2B5EF4-FFF2-40B4-BE49-F238E27FC236}">
                <a16:creationId xmlns:a16="http://schemas.microsoft.com/office/drawing/2014/main" id="{B9738721-9C81-BC43-4E67-96765930636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" r="76680" b="-149996"/>
          <a:stretch>
            <a:fillRect/>
          </a:stretch>
        </p:blipFill>
        <p:spPr>
          <a:xfrm>
            <a:off x="9319419" y="4437879"/>
            <a:ext cx="2161949" cy="63500"/>
          </a:xfrm>
          <a:prstGeom prst="rect">
            <a:avLst/>
          </a:prstGeom>
        </p:spPr>
      </p:pic>
      <p:sp>
        <p:nvSpPr>
          <p:cNvPr id="47" name="Text 17">
            <a:extLst>
              <a:ext uri="{FF2B5EF4-FFF2-40B4-BE49-F238E27FC236}">
                <a16:creationId xmlns:a16="http://schemas.microsoft.com/office/drawing/2014/main" id="{2CAAE5F6-8108-D82D-9EA0-B35A689BA3F9}"/>
              </a:ext>
            </a:extLst>
          </p:cNvPr>
          <p:cNvSpPr txBox="1"/>
          <p:nvPr/>
        </p:nvSpPr>
        <p:spPr>
          <a:xfrm>
            <a:off x="3579563" y="4686309"/>
            <a:ext cx="2161949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임성현</a:t>
            </a:r>
            <a:r>
              <a:rPr lang="en-US" altLang="ko-KR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(Anchor)</a:t>
            </a:r>
            <a:endParaRPr lang="ko-KR" altLang="en-US" b="1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FBBB05E5-C230-DD03-34F3-820A9ACE0CE0}"/>
              </a:ext>
            </a:extLst>
          </p:cNvPr>
          <p:cNvSpPr txBox="1"/>
          <p:nvPr/>
        </p:nvSpPr>
        <p:spPr>
          <a:xfrm>
            <a:off x="6450178" y="4688283"/>
            <a:ext cx="2161949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최효근</a:t>
            </a:r>
            <a:r>
              <a:rPr lang="en-US" altLang="ko-KR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(Executor)</a:t>
            </a:r>
            <a:endParaRPr lang="ko-KR" altLang="en-US" b="1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557E1FF3-8F05-20C6-C223-B6B510E318F8}"/>
              </a:ext>
            </a:extLst>
          </p:cNvPr>
          <p:cNvSpPr txBox="1"/>
          <p:nvPr/>
        </p:nvSpPr>
        <p:spPr>
          <a:xfrm>
            <a:off x="9319419" y="4688283"/>
            <a:ext cx="2161949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한혁</a:t>
            </a:r>
            <a:r>
              <a:rPr lang="en-US" altLang="ko-KR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(Explorer)</a:t>
            </a:r>
            <a:endParaRPr lang="ko-KR" altLang="en-US" b="1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50" name="TextBox 16">
            <a:extLst>
              <a:ext uri="{FF2B5EF4-FFF2-40B4-BE49-F238E27FC236}">
                <a16:creationId xmlns:a16="http://schemas.microsoft.com/office/drawing/2014/main" id="{C3E19923-8577-5145-73DA-004B4BFA8765}"/>
              </a:ext>
            </a:extLst>
          </p:cNvPr>
          <p:cNvSpPr txBox="1"/>
          <p:nvPr/>
        </p:nvSpPr>
        <p:spPr>
          <a:xfrm>
            <a:off x="814545" y="5109905"/>
            <a:ext cx="2379232" cy="8222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lvl="1">
              <a:lnSpc>
                <a:spcPct val="116199"/>
              </a:lnSpc>
              <a:buClr>
                <a:srgbClr val="000000"/>
              </a:buClr>
            </a:pP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altLang="ko-KR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</a:t>
            </a:r>
            <a:r>
              <a:rPr lang="ko-KR" alt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기초통계 피처엔지니어링</a:t>
            </a:r>
            <a:endParaRPr lang="en-US" sz="1300" b="0" i="0" u="none" strike="noStrike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  <a:p>
            <a:pPr marL="0" lvl="1">
              <a:lnSpc>
                <a:spcPct val="116199"/>
              </a:lnSpc>
              <a:buClr>
                <a:srgbClr val="000000"/>
              </a:buClr>
            </a:pP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XGB </a:t>
            </a:r>
            <a:r>
              <a:rPr lang="ko-KR" alt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모델링 및 실험</a:t>
            </a:r>
            <a:endParaRPr lang="en-US" altLang="ko-KR" sz="1300" b="0" i="0" u="none" strike="noStrike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  <a:p>
            <a:pPr marL="0" lvl="1">
              <a:lnSpc>
                <a:spcPct val="116199"/>
              </a:lnSpc>
              <a:buClr>
                <a:srgbClr val="000000"/>
              </a:buClr>
            </a:pP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G</a:t>
            </a:r>
            <a:r>
              <a:rPr lang="en-US" sz="13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ATv2 </a:t>
            </a:r>
            <a:r>
              <a:rPr lang="ko-KR" altLang="en-US" sz="13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모델링 및 실험</a:t>
            </a:r>
            <a:endParaRPr lang="en-US" altLang="ko-KR" sz="1300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</p:txBody>
      </p:sp>
      <p:sp>
        <p:nvSpPr>
          <p:cNvPr id="52" name="TextBox 16">
            <a:extLst>
              <a:ext uri="{FF2B5EF4-FFF2-40B4-BE49-F238E27FC236}">
                <a16:creationId xmlns:a16="http://schemas.microsoft.com/office/drawing/2014/main" id="{B7CFD8DA-D340-13C4-F9D4-B7F04B1F4326}"/>
              </a:ext>
            </a:extLst>
          </p:cNvPr>
          <p:cNvSpPr txBox="1"/>
          <p:nvPr/>
        </p:nvSpPr>
        <p:spPr>
          <a:xfrm>
            <a:off x="3636035" y="5107993"/>
            <a:ext cx="2379232" cy="8222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lvl="1">
              <a:lnSpc>
                <a:spcPct val="116199"/>
              </a:lnSpc>
              <a:buClr>
                <a:srgbClr val="000000"/>
              </a:buClr>
            </a:pP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altLang="ko-KR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</a:t>
            </a:r>
            <a:r>
              <a:rPr lang="ko-KR" alt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그래프 관련 툴 실험</a:t>
            </a:r>
            <a:endParaRPr lang="en-US" altLang="ko-KR" sz="1300" b="0" i="0" u="none" strike="noStrike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  <a:p>
            <a:pPr marL="0" lvl="1">
              <a:lnSpc>
                <a:spcPct val="116199"/>
              </a:lnSpc>
              <a:buClr>
                <a:srgbClr val="000000"/>
              </a:buClr>
            </a:pP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</a:t>
            </a:r>
            <a:r>
              <a:rPr lang="en-US" sz="13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LAS-GNN </a:t>
            </a:r>
            <a:r>
              <a:rPr lang="ko-KR" altLang="en-US" sz="13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모델링 및 실험</a:t>
            </a:r>
            <a:endParaRPr lang="en-US" altLang="ko-KR" sz="1300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</p:txBody>
      </p:sp>
      <p:sp>
        <p:nvSpPr>
          <p:cNvPr id="53" name="TextBox 16">
            <a:extLst>
              <a:ext uri="{FF2B5EF4-FFF2-40B4-BE49-F238E27FC236}">
                <a16:creationId xmlns:a16="http://schemas.microsoft.com/office/drawing/2014/main" id="{78D729B2-70E1-8E6B-0A6C-BE297C27FA76}"/>
              </a:ext>
            </a:extLst>
          </p:cNvPr>
          <p:cNvSpPr txBox="1"/>
          <p:nvPr/>
        </p:nvSpPr>
        <p:spPr>
          <a:xfrm>
            <a:off x="6437330" y="5109977"/>
            <a:ext cx="2379232" cy="8222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lvl="1">
              <a:lnSpc>
                <a:spcPct val="116199"/>
              </a:lnSpc>
              <a:buClr>
                <a:srgbClr val="000000"/>
              </a:buClr>
            </a:pP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altLang="ko-KR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EDA </a:t>
            </a:r>
            <a:r>
              <a:rPr lang="ko-KR" alt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및 피처 아이디어 제시</a:t>
            </a:r>
          </a:p>
          <a:p>
            <a:pPr marL="0" lvl="1">
              <a:lnSpc>
                <a:spcPct val="116199"/>
              </a:lnSpc>
              <a:buClr>
                <a:srgbClr val="000000"/>
              </a:buClr>
            </a:pP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altLang="ko-KR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</a:t>
            </a:r>
            <a:r>
              <a:rPr lang="en-US" altLang="ko-KR" sz="1300" b="0" i="0" u="none" strike="noStrike" dirty="0" err="1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GraphSAGE</a:t>
            </a:r>
            <a:r>
              <a:rPr lang="en-US" altLang="ko-KR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</a:t>
            </a:r>
            <a:r>
              <a:rPr lang="ko-KR" alt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모델링 및 실험</a:t>
            </a:r>
          </a:p>
        </p:txBody>
      </p:sp>
      <p:sp>
        <p:nvSpPr>
          <p:cNvPr id="54" name="TextBox 16">
            <a:extLst>
              <a:ext uri="{FF2B5EF4-FFF2-40B4-BE49-F238E27FC236}">
                <a16:creationId xmlns:a16="http://schemas.microsoft.com/office/drawing/2014/main" id="{E84DF328-8697-778C-4FE6-AC1F88E65C93}"/>
              </a:ext>
            </a:extLst>
          </p:cNvPr>
          <p:cNvSpPr txBox="1"/>
          <p:nvPr/>
        </p:nvSpPr>
        <p:spPr>
          <a:xfrm>
            <a:off x="9310519" y="5110806"/>
            <a:ext cx="2379232" cy="8222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lvl="1">
              <a:lnSpc>
                <a:spcPct val="116199"/>
              </a:lnSpc>
              <a:buClr>
                <a:srgbClr val="000000"/>
              </a:buClr>
            </a:pP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altLang="ko-KR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</a:t>
            </a:r>
            <a:r>
              <a:rPr lang="ko-KR" alt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데이터 </a:t>
            </a:r>
            <a:r>
              <a:rPr lang="ko-KR" altLang="en-US" sz="1300" b="0" i="0" u="none" strike="noStrike" dirty="0" err="1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전처리</a:t>
            </a:r>
            <a:r>
              <a:rPr lang="en-US" altLang="ko-KR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(OOM </a:t>
            </a:r>
            <a:r>
              <a:rPr lang="ko-KR" alt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해결</a:t>
            </a:r>
            <a:r>
              <a:rPr lang="en-US" altLang="ko-KR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)</a:t>
            </a:r>
          </a:p>
          <a:p>
            <a:pPr marL="0" lvl="1">
              <a:lnSpc>
                <a:spcPct val="116199"/>
              </a:lnSpc>
              <a:buClr>
                <a:srgbClr val="000000"/>
              </a:buClr>
            </a:pP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altLang="ko-KR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</a:t>
            </a:r>
            <a:r>
              <a:rPr lang="ko-KR" alt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국가 관련 피처엔지니어링</a:t>
            </a:r>
          </a:p>
          <a:p>
            <a:pPr marL="0" lvl="1">
              <a:lnSpc>
                <a:spcPct val="116199"/>
              </a:lnSpc>
              <a:buClr>
                <a:srgbClr val="000000"/>
              </a:buClr>
            </a:pP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altLang="ko-KR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</a:t>
            </a:r>
            <a:r>
              <a:rPr lang="ko-KR" altLang="en-US" sz="13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그래프 피처엔지니어링</a:t>
            </a:r>
          </a:p>
        </p:txBody>
      </p:sp>
      <p:sp>
        <p:nvSpPr>
          <p:cNvPr id="55" name="TextBox 7">
            <a:extLst>
              <a:ext uri="{FF2B5EF4-FFF2-40B4-BE49-F238E27FC236}">
                <a16:creationId xmlns:a16="http://schemas.microsoft.com/office/drawing/2014/main" id="{F6859CF3-64E5-F40F-C4F1-D44A61FA7836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1958335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8"/>
    </mc:Choice>
    <mc:Fallback xmlns="">
      <p:transition spd="slow" advTm="2572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495E-1532-A7C7-683B-9C766DEB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331C85-13FE-33E4-17A0-50796D61835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480046-CD17-D5D6-E601-8D10ABBFF51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7BAB953-3363-BA2C-C630-9008FFB9CA19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AF195C0-3E5C-1C45-1146-602DE14EB40F}"/>
              </a:ext>
            </a:extLst>
          </p:cNvPr>
          <p:cNvSpPr/>
          <p:nvPr/>
        </p:nvSpPr>
        <p:spPr>
          <a:xfrm>
            <a:off x="381305" y="1143000"/>
            <a:ext cx="11505895" cy="952805"/>
          </a:xfrm>
          <a:prstGeom prst="roundRect">
            <a:avLst>
              <a:gd name="adj" fmla="val 15355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6F9F31B-48C1-B1F9-95C4-A38748F7D2BF}"/>
              </a:ext>
            </a:extLst>
          </p:cNvPr>
          <p:cNvSpPr/>
          <p:nvPr/>
        </p:nvSpPr>
        <p:spPr>
          <a:xfrm>
            <a:off x="381305" y="1143000"/>
            <a:ext cx="75895" cy="952805"/>
          </a:xfrm>
          <a:prstGeom prst="roundRect">
            <a:avLst>
              <a:gd name="adj" fmla="val 192772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387EEA-BE85-7262-F5E9-467C04994345}"/>
              </a:ext>
            </a:extLst>
          </p:cNvPr>
          <p:cNvSpPr/>
          <p:nvPr/>
        </p:nvSpPr>
        <p:spPr>
          <a:xfrm>
            <a:off x="381305" y="2476195"/>
            <a:ext cx="5544007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16A5197-8E6E-8CF7-CB54-7851FD8B9D16}"/>
              </a:ext>
            </a:extLst>
          </p:cNvPr>
          <p:cNvSpPr/>
          <p:nvPr/>
        </p:nvSpPr>
        <p:spPr>
          <a:xfrm>
            <a:off x="6286500" y="2476195"/>
            <a:ext cx="5544007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512FEE6-98F4-E8C9-A9B1-BFD52C80B9EC}"/>
              </a:ext>
            </a:extLst>
          </p:cNvPr>
          <p:cNvSpPr/>
          <p:nvPr/>
        </p:nvSpPr>
        <p:spPr>
          <a:xfrm>
            <a:off x="381305" y="4572000"/>
            <a:ext cx="5544007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EA85074-4B13-93BE-13F1-0E14257095FE}"/>
              </a:ext>
            </a:extLst>
          </p:cNvPr>
          <p:cNvSpPr/>
          <p:nvPr/>
        </p:nvSpPr>
        <p:spPr>
          <a:xfrm>
            <a:off x="6286500" y="4572000"/>
            <a:ext cx="5544007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BC5367-23A3-BAAD-0F8D-12581244B2B1}"/>
              </a:ext>
            </a:extLst>
          </p:cNvPr>
          <p:cNvSpPr txBox="1"/>
          <p:nvPr/>
        </p:nvSpPr>
        <p:spPr>
          <a:xfrm>
            <a:off x="381305" y="190195"/>
            <a:ext cx="7734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Part1. </a:t>
            </a:r>
            <a:r>
              <a:rPr lang="ko-KR" alt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자금세탁방지</a:t>
            </a:r>
            <a:r>
              <a:rPr lang="en-US" altLang="ko-KR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(AML) </a:t>
            </a:r>
            <a:r>
              <a:rPr lang="ko-KR" alt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분야에 대한 발전이 필요한 이유</a:t>
            </a:r>
            <a:endParaRPr lang="en-US" sz="2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77832FF-2900-F51E-E978-15470DFE67D9}"/>
              </a:ext>
            </a:extLst>
          </p:cNvPr>
          <p:cNvSpPr txBox="1"/>
          <p:nvPr/>
        </p:nvSpPr>
        <p:spPr>
          <a:xfrm>
            <a:off x="571500" y="1285646"/>
            <a:ext cx="11135563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“</a:t>
            </a:r>
            <a:r>
              <a:rPr lang="en-US" sz="18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금액이</a:t>
            </a:r>
            <a:r>
              <a:rPr lang="en-US" sz="18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아니라 </a:t>
            </a:r>
            <a:r>
              <a:rPr lang="en-US" sz="18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'관계 구조'</a:t>
            </a:r>
            <a:r>
              <a:rPr lang="en-US" sz="18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봐야 탐지 사각지대를 줄일 수 </a:t>
            </a:r>
            <a:r>
              <a:rPr lang="en-US" sz="18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있음</a:t>
            </a:r>
            <a:r>
              <a:rPr lang="en-US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”</a:t>
            </a:r>
            <a:endParaRPr lang="en-US" sz="1800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 US Treasury 2026: '가시성 공백' 해소를 위한 그래프 분석·AI 도입 권고</a:t>
            </a:r>
            <a:endParaRPr lang="en-US" sz="18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0CDF7AB5-8AFE-E11B-DC00-DA021EBB71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7395" y="2743200"/>
            <a:ext cx="228600" cy="22860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F5BC0043-C7DD-FD02-4826-1CE147879A9B}"/>
              </a:ext>
            </a:extLst>
          </p:cNvPr>
          <p:cNvSpPr txBox="1"/>
          <p:nvPr/>
        </p:nvSpPr>
        <p:spPr>
          <a:xfrm>
            <a:off x="1047902" y="2667305"/>
            <a:ext cx="4858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천문학적 금융범죄 규모</a:t>
            </a:r>
            <a:endParaRPr lang="en-US" sz="15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1301744-5B7A-5304-E511-EEB0AA5011BA}"/>
              </a:ext>
            </a:extLst>
          </p:cNvPr>
          <p:cNvSpPr txBox="1"/>
          <p:nvPr/>
        </p:nvSpPr>
        <p:spPr>
          <a:xfrm>
            <a:off x="476402" y="3193835"/>
            <a:ext cx="5334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3.1조 달러</a:t>
            </a:r>
            <a:endParaRPr lang="en-US" sz="3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4AD053D-F0FB-C837-A827-F6EFBE80BED3}"/>
              </a:ext>
            </a:extLst>
          </p:cNvPr>
          <p:cNvSpPr txBox="1"/>
          <p:nvPr/>
        </p:nvSpPr>
        <p:spPr>
          <a:xfrm>
            <a:off x="514807" y="3834994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전 세계 불법자금 규모 (BIS IH 2025)</a:t>
            </a:r>
            <a:endParaRPr lang="en-US" sz="120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6BF7483A-343A-0268-20F1-83D97F9FBB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53505" y="2743200"/>
            <a:ext cx="228600" cy="228600"/>
          </a:xfrm>
          <a:prstGeom prst="rect">
            <a:avLst/>
          </a:prstGeom>
        </p:spPr>
      </p:pic>
      <p:sp>
        <p:nvSpPr>
          <p:cNvPr id="18" name="Text 14">
            <a:extLst>
              <a:ext uri="{FF2B5EF4-FFF2-40B4-BE49-F238E27FC236}">
                <a16:creationId xmlns:a16="http://schemas.microsoft.com/office/drawing/2014/main" id="{EB72C2E2-B24E-98D3-2ADB-D570D1567051}"/>
              </a:ext>
            </a:extLst>
          </p:cNvPr>
          <p:cNvSpPr txBox="1"/>
          <p:nvPr/>
        </p:nvSpPr>
        <p:spPr>
          <a:xfrm>
            <a:off x="6953098" y="2667305"/>
            <a:ext cx="4858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범죄 자금 회수율</a:t>
            </a:r>
            <a:endParaRPr lang="en-US" sz="15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297F333-1AE4-F923-A99A-377C1F463082}"/>
              </a:ext>
            </a:extLst>
          </p:cNvPr>
          <p:cNvSpPr txBox="1"/>
          <p:nvPr/>
        </p:nvSpPr>
        <p:spPr>
          <a:xfrm>
            <a:off x="6381598" y="3193835"/>
            <a:ext cx="5334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2% 미만</a:t>
            </a:r>
            <a:endParaRPr lang="en-US" sz="36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5F733B4-58FB-EA12-6354-38FBAE8D7667}"/>
              </a:ext>
            </a:extLst>
          </p:cNvPr>
          <p:cNvSpPr txBox="1"/>
          <p:nvPr/>
        </p:nvSpPr>
        <p:spPr>
          <a:xfrm>
            <a:off x="6420002" y="3834994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각국 수사 기관의 실제 포착 및 회수율 (Europol)</a:t>
            </a:r>
            <a:endParaRPr lang="en-US" sz="120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F088F2C8-CADF-6AA6-E147-4606836C4D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7395" y="4839005"/>
            <a:ext cx="228600" cy="228600"/>
          </a:xfrm>
          <a:prstGeom prst="rect">
            <a:avLst/>
          </a:prstGeom>
        </p:spPr>
      </p:pic>
      <p:sp>
        <p:nvSpPr>
          <p:cNvPr id="22" name="Text 17">
            <a:extLst>
              <a:ext uri="{FF2B5EF4-FFF2-40B4-BE49-F238E27FC236}">
                <a16:creationId xmlns:a16="http://schemas.microsoft.com/office/drawing/2014/main" id="{35EA3BC7-1B67-681C-5641-3732C9326B57}"/>
              </a:ext>
            </a:extLst>
          </p:cNvPr>
          <p:cNvSpPr txBox="1"/>
          <p:nvPr/>
        </p:nvSpPr>
        <p:spPr>
          <a:xfrm>
            <a:off x="1047902" y="4762195"/>
            <a:ext cx="4858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막대한 사회적 경제 손실</a:t>
            </a:r>
            <a:endParaRPr lang="en-US" sz="15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67E04322-22EC-91CC-E7C2-18DBE9F0F484}"/>
              </a:ext>
            </a:extLst>
          </p:cNvPr>
          <p:cNvSpPr txBox="1"/>
          <p:nvPr/>
        </p:nvSpPr>
        <p:spPr>
          <a:xfrm>
            <a:off x="476402" y="5288725"/>
            <a:ext cx="5334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4,850억 달러</a:t>
            </a:r>
            <a:endParaRPr lang="en-US" sz="36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1AE2797-D68B-612F-9D9E-F05290DB04DB}"/>
              </a:ext>
            </a:extLst>
          </p:cNvPr>
          <p:cNvSpPr txBox="1"/>
          <p:nvPr/>
        </p:nvSpPr>
        <p:spPr>
          <a:xfrm>
            <a:off x="514807" y="5929884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결제·수표·신용카드 사기 손실 (Nasdaq 2024)</a:t>
            </a:r>
            <a:endParaRPr lang="en-US" sz="1200" dirty="0"/>
          </a:p>
        </p:txBody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B2C51A08-5505-19F7-8A5E-486E0AF965D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53505" y="4839005"/>
            <a:ext cx="228600" cy="228600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A2A46514-6D1A-1BE0-FCF3-FE88D7220A07}"/>
              </a:ext>
            </a:extLst>
          </p:cNvPr>
          <p:cNvSpPr txBox="1"/>
          <p:nvPr/>
        </p:nvSpPr>
        <p:spPr>
          <a:xfrm>
            <a:off x="6953098" y="4762195"/>
            <a:ext cx="4858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신종 자산의 익명성 악용</a:t>
            </a:r>
            <a:endParaRPr lang="en-US" sz="15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DC179382-E082-2D2D-E124-01E3C606ED54}"/>
              </a:ext>
            </a:extLst>
          </p:cNvPr>
          <p:cNvSpPr txBox="1"/>
          <p:nvPr/>
        </p:nvSpPr>
        <p:spPr>
          <a:xfrm>
            <a:off x="6381598" y="5288725"/>
            <a:ext cx="5334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1,540억 달러</a:t>
            </a:r>
            <a:endParaRPr lang="en-US" sz="36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EFC9AD75-6331-66D5-1662-5BB8DF574616}"/>
              </a:ext>
            </a:extLst>
          </p:cNvPr>
          <p:cNvSpPr txBox="1"/>
          <p:nvPr/>
        </p:nvSpPr>
        <p:spPr>
          <a:xfrm>
            <a:off x="6420002" y="5929884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불법 주소 유입 자금, 스테이블코인 비중 급증 (FATF 2026)</a:t>
            </a:r>
            <a:endParaRPr lang="en-US" sz="12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E310D87D-3BAD-7D6A-C593-063B1DCDB417}"/>
              </a:ext>
            </a:extLst>
          </p:cNvPr>
          <p:cNvSpPr txBox="1"/>
          <p:nvPr/>
        </p:nvSpPr>
        <p:spPr>
          <a:xfrm>
            <a:off x="267005" y="6491209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30" name="Image 1">
            <a:extLst>
              <a:ext uri="{FF2B5EF4-FFF2-40B4-BE49-F238E27FC236}">
                <a16:creationId xmlns:a16="http://schemas.microsoft.com/office/drawing/2014/main" id="{B5F9D233-E169-B618-12D9-5FB27B3A54C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32" name="TextBox 7">
            <a:extLst>
              <a:ext uri="{FF2B5EF4-FFF2-40B4-BE49-F238E27FC236}">
                <a16:creationId xmlns:a16="http://schemas.microsoft.com/office/drawing/2014/main" id="{3CFDB3FF-2F9F-AC19-B278-FD809912FCFF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340663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042"/>
    </mc:Choice>
    <mc:Fallback xmlns="">
      <p:transition spd="slow" advTm="5504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1047902"/>
            <a:ext cx="11505895" cy="952805"/>
          </a:xfrm>
          <a:prstGeom prst="roundRect">
            <a:avLst>
              <a:gd name="adj" fmla="val 15355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1047902"/>
            <a:ext cx="75895" cy="952805"/>
          </a:xfrm>
          <a:prstGeom prst="roundRect">
            <a:avLst>
              <a:gd name="adj" fmla="val 192772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190902" y="2743200"/>
            <a:ext cx="7810805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1305" y="3333902"/>
            <a:ext cx="3638398" cy="2781605"/>
          </a:xfrm>
          <a:prstGeom prst="roundRect">
            <a:avLst>
              <a:gd name="adj" fmla="val 1801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6707" y="3333902"/>
            <a:ext cx="3638398" cy="2781605"/>
          </a:xfrm>
          <a:prstGeom prst="roundRect">
            <a:avLst>
              <a:gd name="adj" fmla="val 1801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8191195" y="3333902"/>
            <a:ext cx="3657600" cy="2800807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04695" y="2476195"/>
            <a:ext cx="647395" cy="64739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10098" y="2476195"/>
            <a:ext cx="647395" cy="6473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15500" y="2476195"/>
            <a:ext cx="647395" cy="64739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81305" y="190195"/>
            <a:ext cx="7734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Part2. </a:t>
            </a:r>
            <a:r>
              <a:rPr lang="ko-KR" alt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AML </a:t>
            </a:r>
            <a:r>
              <a:rPr lang="en-US" sz="21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모델링의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진화 및 본 연구의 위치</a:t>
            </a:r>
            <a:endParaRPr lang="en-US" sz="2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5002" y="1324051"/>
            <a:ext cx="30449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238098" y="1190549"/>
            <a:ext cx="10478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전통적 머신러닝의 한계를 넘어, </a:t>
            </a:r>
            <a:r>
              <a:rPr lang="en-US" sz="18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실무적 가치와 연구적 역량</a:t>
            </a:r>
            <a:r>
              <a:rPr lang="en-US" sz="18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동시에 확보</a:t>
            </a:r>
            <a:endParaRPr lang="en-US" sz="1800" dirty="0"/>
          </a:p>
        </p:txBody>
      </p:sp>
      <p:sp>
        <p:nvSpPr>
          <p:cNvPr id="17" name="Text 9"/>
          <p:cNvSpPr txBox="1"/>
          <p:nvPr/>
        </p:nvSpPr>
        <p:spPr>
          <a:xfrm>
            <a:off x="1238098" y="1571854"/>
            <a:ext cx="10478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ko-KR" alt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운영 효율성에 만족하지 않고</a:t>
            </a: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고도화된 방법론을 선제적으로 연구하여 미래 금융 범죄 대응의 </a:t>
            </a: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</a:t>
            </a:r>
            <a:r>
              <a:rPr lang="ko-KR" alt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승리 전략</a:t>
            </a:r>
            <a:r>
              <a:rPr lang="en-US" altLang="ko-KR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(Winning Strategy)' </a:t>
            </a:r>
            <a:r>
              <a:rPr lang="ko-KR" alt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</a:t>
            </a: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1897185" y="2664726"/>
            <a:ext cx="648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1"/>
          <p:cNvSpPr txBox="1"/>
          <p:nvPr/>
        </p:nvSpPr>
        <p:spPr>
          <a:xfrm>
            <a:off x="5817577" y="2664726"/>
            <a:ext cx="648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9722065" y="2649736"/>
            <a:ext cx="648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529797" y="3571646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(1세대)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529797" y="3810305"/>
            <a:ext cx="33531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기반 (Rule-based)</a:t>
            </a:r>
            <a:endParaRPr lang="en-US" sz="16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2061972" y="4304995"/>
            <a:ext cx="256946" cy="3429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71500" y="4858207"/>
            <a:ext cx="3578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ko-KR" alt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기간 내 일정 금액 이상 출금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정의된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</a:t>
            </a:r>
            <a:r>
              <a:rPr lang="ko-KR" alt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의존</a:t>
            </a:r>
            <a:endParaRPr lang="en-US" sz="1100" dirty="0"/>
          </a:p>
        </p:txBody>
      </p:sp>
      <p:sp>
        <p:nvSpPr>
          <p:cNvPr id="25" name="Text 16"/>
          <p:cNvSpPr txBox="1"/>
          <p:nvPr/>
        </p:nvSpPr>
        <p:spPr>
          <a:xfrm>
            <a:off x="571500" y="516727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거래를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의심으로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판별하는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오탐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(FP)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다수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571500" y="5477256"/>
            <a:ext cx="38258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지능화된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신종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수법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대응에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</a:t>
            </a:r>
            <a:r>
              <a:rPr lang="en-US" altLang="ko-KR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노출</a:t>
            </a:r>
            <a:endParaRPr lang="en-US" sz="1100" dirty="0"/>
          </a:p>
        </p:txBody>
      </p:sp>
      <p:sp>
        <p:nvSpPr>
          <p:cNvPr id="27" name="Text 18"/>
          <p:cNvSpPr txBox="1"/>
          <p:nvPr/>
        </p:nvSpPr>
        <p:spPr>
          <a:xfrm>
            <a:off x="4449275" y="3571646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(2세대)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4449275" y="3810305"/>
            <a:ext cx="33531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</a:t>
            </a: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</a:t>
            </a: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(ML)</a:t>
            </a:r>
            <a:endParaRPr lang="en-US" sz="16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9"/>
          <a:srcRect l="-607" r="-607"/>
          <a:stretch/>
        </p:blipFill>
        <p:spPr>
          <a:xfrm>
            <a:off x="5900623" y="4304995"/>
            <a:ext cx="390449" cy="3429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476902" y="4858207"/>
            <a:ext cx="3406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의사결정나무 및 부스팅(Boosting) 모델 주류</a:t>
            </a:r>
            <a:endParaRPr lang="en-US" sz="1100" dirty="0"/>
          </a:p>
        </p:txBody>
      </p:sp>
      <p:sp>
        <p:nvSpPr>
          <p:cNvPr id="31" name="Text 21"/>
          <p:cNvSpPr txBox="1"/>
          <p:nvPr/>
        </p:nvSpPr>
        <p:spPr>
          <a:xfrm>
            <a:off x="4476902" y="5167274"/>
            <a:ext cx="3963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개별 계좌의 통계적 특성(금액,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빈도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분석 능력 우수</a:t>
            </a:r>
            <a:endParaRPr lang="en-US" sz="1100" dirty="0"/>
          </a:p>
        </p:txBody>
      </p:sp>
      <p:sp>
        <p:nvSpPr>
          <p:cNvPr id="32" name="Text 22"/>
          <p:cNvSpPr txBox="1"/>
          <p:nvPr/>
        </p:nvSpPr>
        <p:spPr>
          <a:xfrm>
            <a:off x="4476902" y="5477256"/>
            <a:ext cx="35515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스머핑, </a:t>
            </a:r>
            <a:r>
              <a:rPr lang="ko-KR" alt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순환 거래</a:t>
            </a:r>
            <a:r>
              <a:rPr 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'조직적 관계' </a:t>
            </a:r>
            <a:r>
              <a:rPr lang="en-US" sz="1100" b="1" dirty="0" err="1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파악</a:t>
            </a:r>
            <a:r>
              <a:rPr 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b="1" dirty="0" err="1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</a:t>
            </a:r>
            <a:endParaRPr lang="en-US" sz="1100" b="1" dirty="0"/>
          </a:p>
        </p:txBody>
      </p:sp>
      <p:sp>
        <p:nvSpPr>
          <p:cNvPr id="33" name="Text 23"/>
          <p:cNvSpPr txBox="1"/>
          <p:nvPr/>
        </p:nvSpPr>
        <p:spPr>
          <a:xfrm>
            <a:off x="8354678" y="3571646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연구</a:t>
            </a: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(3세대)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8354678" y="3810305"/>
            <a:ext cx="33531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 피처 및 그래프 신경망 </a:t>
            </a: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(GNN)</a:t>
            </a:r>
            <a:endParaRPr lang="en-US" sz="16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rcRect l="-27" r="-27"/>
          <a:stretch/>
        </p:blipFill>
        <p:spPr>
          <a:xfrm>
            <a:off x="9786823" y="4304995"/>
            <a:ext cx="428854" cy="3429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322345" y="4858207"/>
            <a:ext cx="34317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</a:t>
            </a:r>
            <a:r>
              <a:rPr lang="ko-KR" alt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모델에 그래프 기반 변수를 추가</a:t>
            </a:r>
            <a:endParaRPr lang="en-US" sz="1100" dirty="0"/>
          </a:p>
        </p:txBody>
      </p:sp>
      <p:sp>
        <p:nvSpPr>
          <p:cNvPr id="37" name="Text 26"/>
          <p:cNvSpPr txBox="1"/>
          <p:nvPr/>
        </p:nvSpPr>
        <p:spPr>
          <a:xfrm>
            <a:off x="8322345" y="5482065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순환, 분산 등 네트워크 형태 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범죄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탐지율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증가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100" dirty="0"/>
          </a:p>
        </p:txBody>
      </p:sp>
      <p:sp>
        <p:nvSpPr>
          <p:cNvPr id="38" name="Text 27"/>
          <p:cNvSpPr txBox="1"/>
          <p:nvPr/>
        </p:nvSpPr>
        <p:spPr>
          <a:xfrm>
            <a:off x="8322345" y="5792047"/>
            <a:ext cx="34509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은닉된 자금 </a:t>
            </a:r>
            <a:r>
              <a:rPr lang="en-US" sz="11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세탁</a:t>
            </a: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계좌</a:t>
            </a: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</a:t>
            </a:r>
            <a:r>
              <a:rPr lang="ko-KR" alt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</a:t>
            </a:r>
            <a:r>
              <a:rPr lang="en-US" sz="11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가시성</a:t>
            </a: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개선</a:t>
            </a:r>
            <a:endParaRPr lang="en-US" sz="1100" dirty="0"/>
          </a:p>
        </p:txBody>
      </p:sp>
      <p:sp>
        <p:nvSpPr>
          <p:cNvPr id="39" name="Text 28"/>
          <p:cNvSpPr txBox="1"/>
          <p:nvPr/>
        </p:nvSpPr>
        <p:spPr>
          <a:xfrm>
            <a:off x="267005" y="6476695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40" name="Image 1">
            <a:extLst>
              <a:ext uri="{FF2B5EF4-FFF2-40B4-BE49-F238E27FC236}">
                <a16:creationId xmlns:a16="http://schemas.microsoft.com/office/drawing/2014/main" id="{1F78E78A-1514-1426-6AAC-F5D76C4540B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42" name="TextBox 7">
            <a:extLst>
              <a:ext uri="{FF2B5EF4-FFF2-40B4-BE49-F238E27FC236}">
                <a16:creationId xmlns:a16="http://schemas.microsoft.com/office/drawing/2014/main" id="{D0F8B1A6-A734-8538-397C-1FC3EDA8D3BA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05DB680B-D649-883C-62E9-F7FF99A2D52F}"/>
              </a:ext>
            </a:extLst>
          </p:cNvPr>
          <p:cNvSpPr txBox="1"/>
          <p:nvPr/>
        </p:nvSpPr>
        <p:spPr>
          <a:xfrm>
            <a:off x="8324844" y="5160507"/>
            <a:ext cx="34317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계좌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노드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)와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)의 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자체를 학습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235"/>
    </mc:Choice>
    <mc:Fallback xmlns="">
      <p:transition spd="slow" advTm="8623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191195" y="1438125"/>
            <a:ext cx="3638398" cy="4781398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rcRect t="-404" b="-404"/>
          <a:stretch/>
        </p:blipFill>
        <p:spPr>
          <a:xfrm>
            <a:off x="8191195" y="1438125"/>
            <a:ext cx="3619195" cy="57607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8382305" y="2200735"/>
            <a:ext cx="3238805" cy="91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382305" y="2646448"/>
            <a:ext cx="32580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5"/>
          <p:cNvSpPr/>
          <p:nvPr/>
        </p:nvSpPr>
        <p:spPr>
          <a:xfrm>
            <a:off x="8382305" y="3694350"/>
            <a:ext cx="32580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6"/>
          <p:cNvSpPr/>
          <p:nvPr/>
        </p:nvSpPr>
        <p:spPr>
          <a:xfrm>
            <a:off x="8382305" y="4742252"/>
            <a:ext cx="32580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7"/>
          <p:cNvSpPr txBox="1"/>
          <p:nvPr/>
        </p:nvSpPr>
        <p:spPr>
          <a:xfrm>
            <a:off x="381305" y="190195"/>
            <a:ext cx="7734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Part3. </a:t>
            </a:r>
            <a:r>
              <a:rPr lang="en-US" sz="21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1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Task와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1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</a:t>
            </a:r>
            <a:endParaRPr lang="en-US" sz="2100" dirty="0"/>
          </a:p>
        </p:txBody>
      </p:sp>
      <p:sp>
        <p:nvSpPr>
          <p:cNvPr id="26" name="Text 18"/>
          <p:cNvSpPr txBox="1"/>
          <p:nvPr/>
        </p:nvSpPr>
        <p:spPr>
          <a:xfrm>
            <a:off x="381305" y="980206"/>
            <a:ext cx="11621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부스팅</a:t>
            </a:r>
            <a:r>
              <a:rPr lang="ko-KR" alt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 대비 그래프 방법론의 자금 세탁 의심 계좌 </a:t>
            </a: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고도화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</a:t>
            </a:r>
            <a:endParaRPr lang="en-US" sz="1200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F2A0ACAF-C983-8252-0A35-6E4AA1ADA83A}"/>
              </a:ext>
            </a:extLst>
          </p:cNvPr>
          <p:cNvGrpSpPr/>
          <p:nvPr/>
        </p:nvGrpSpPr>
        <p:grpSpPr>
          <a:xfrm>
            <a:off x="4249133" y="1428656"/>
            <a:ext cx="3638398" cy="4781398"/>
            <a:chOff x="381305" y="1438125"/>
            <a:chExt cx="3638398" cy="4781398"/>
          </a:xfrm>
        </p:grpSpPr>
        <p:sp>
          <p:nvSpPr>
            <p:cNvPr id="5" name="Shape 3"/>
            <p:cNvSpPr/>
            <p:nvPr/>
          </p:nvSpPr>
          <p:spPr>
            <a:xfrm>
              <a:off x="381305" y="1524079"/>
              <a:ext cx="3638398" cy="4695444"/>
            </a:xfrm>
            <a:prstGeom prst="roundRect">
              <a:avLst>
                <a:gd name="adj" fmla="val 1053"/>
              </a:avLst>
            </a:prstGeom>
            <a:solidFill>
              <a:srgbClr val="FFFFFF"/>
            </a:solidFill>
            <a:ln w="12700">
              <a:solidFill>
                <a:srgbClr val="CBD5E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rcRect t="-404" b="-404"/>
            <a:stretch/>
          </p:blipFill>
          <p:spPr>
            <a:xfrm>
              <a:off x="381305" y="1438125"/>
              <a:ext cx="3619195" cy="57607"/>
            </a:xfrm>
            <a:prstGeom prst="rect">
              <a:avLst/>
            </a:prstGeom>
          </p:spPr>
        </p:pic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rcRect l="-2089" r="-2089"/>
            <a:stretch/>
          </p:blipFill>
          <p:spPr>
            <a:xfrm>
              <a:off x="571500" y="2200735"/>
              <a:ext cx="3238805" cy="9144"/>
            </a:xfrm>
            <a:prstGeom prst="rect">
              <a:avLst/>
            </a:prstGeom>
          </p:spPr>
        </p:pic>
        <p:pic>
          <p:nvPicPr>
            <p:cNvPr id="27" name="Image 6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09905" y="1762737"/>
              <a:ext cx="228600" cy="228600"/>
            </a:xfrm>
            <a:prstGeom prst="rect">
              <a:avLst/>
            </a:prstGeom>
          </p:spPr>
        </p:pic>
        <p:sp>
          <p:nvSpPr>
            <p:cNvPr id="28" name="Text 19"/>
            <p:cNvSpPr txBox="1"/>
            <p:nvPr/>
          </p:nvSpPr>
          <p:spPr>
            <a:xfrm>
              <a:off x="1000354" y="1724332"/>
              <a:ext cx="295351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핵심 과업 정의</a:t>
              </a:r>
              <a:endParaRPr lang="en-US" sz="1600" dirty="0"/>
            </a:p>
          </p:txBody>
        </p:sp>
        <p:sp>
          <p:nvSpPr>
            <p:cNvPr id="29" name="Shape 20"/>
            <p:cNvSpPr/>
            <p:nvPr/>
          </p:nvSpPr>
          <p:spPr>
            <a:xfrm>
              <a:off x="571500" y="2458258"/>
              <a:ext cx="267005" cy="267005"/>
            </a:xfrm>
            <a:prstGeom prst="ellipse">
              <a:avLst/>
            </a:prstGeom>
            <a:solidFill>
              <a:srgbClr val="EBF8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1"/>
            <p:cNvSpPr/>
            <p:nvPr/>
          </p:nvSpPr>
          <p:spPr>
            <a:xfrm>
              <a:off x="543154" y="2474300"/>
              <a:ext cx="324612" cy="26700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2B6CB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31" name="Text 22"/>
            <p:cNvSpPr txBox="1"/>
            <p:nvPr/>
          </p:nvSpPr>
          <p:spPr>
            <a:xfrm>
              <a:off x="968847" y="2390930"/>
              <a:ext cx="30486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분석 단위 설정</a:t>
              </a:r>
              <a:endParaRPr lang="en-US" sz="1200" dirty="0"/>
            </a:p>
          </p:txBody>
        </p:sp>
        <p:sp>
          <p:nvSpPr>
            <p:cNvPr id="32" name="Text 23"/>
            <p:cNvSpPr txBox="1"/>
            <p:nvPr/>
          </p:nvSpPr>
          <p:spPr>
            <a:xfrm>
              <a:off x="968847" y="2577725"/>
              <a:ext cx="293431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개별 거래 분석을 넘어선 계좌 중심의 </a:t>
              </a:r>
              <a:r>
                <a:rPr lang="en-US" sz="1000" b="1" dirty="0">
                  <a:solidFill>
                    <a:srgbClr val="2B6CB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'노드 분류'</a:t>
              </a: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수행</a:t>
              </a:r>
              <a:endParaRPr lang="en-US" sz="1000" dirty="0"/>
            </a:p>
          </p:txBody>
        </p:sp>
        <p:sp>
          <p:nvSpPr>
            <p:cNvPr id="33" name="Shape 24"/>
            <p:cNvSpPr/>
            <p:nvPr/>
          </p:nvSpPr>
          <p:spPr>
            <a:xfrm>
              <a:off x="571500" y="3315051"/>
              <a:ext cx="267005" cy="267005"/>
            </a:xfrm>
            <a:prstGeom prst="ellipse">
              <a:avLst/>
            </a:prstGeom>
            <a:solidFill>
              <a:srgbClr val="EBF8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25"/>
            <p:cNvSpPr/>
            <p:nvPr/>
          </p:nvSpPr>
          <p:spPr>
            <a:xfrm>
              <a:off x="543154" y="3331093"/>
              <a:ext cx="324612" cy="26700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2B6CB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35" name="Text 26"/>
            <p:cNvSpPr txBox="1"/>
            <p:nvPr/>
          </p:nvSpPr>
          <p:spPr>
            <a:xfrm>
              <a:off x="968847" y="3200511"/>
              <a:ext cx="30486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모델링 원칙</a:t>
              </a:r>
              <a:endParaRPr lang="en-US" sz="1200" dirty="0"/>
            </a:p>
          </p:txBody>
        </p:sp>
        <p:sp>
          <p:nvSpPr>
            <p:cNvPr id="36" name="Text 27"/>
            <p:cNvSpPr txBox="1"/>
            <p:nvPr/>
          </p:nvSpPr>
          <p:spPr>
            <a:xfrm>
              <a:off x="968847" y="3434518"/>
              <a:ext cx="293431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거래가 자금 세탁 의심 건이라면</a:t>
              </a:r>
              <a:r>
                <a:rPr lang="en-US" altLang="ko-KR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</a:t>
              </a:r>
              <a:br>
                <a:rPr lang="en-US" altLang="ko-KR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en-US" sz="1000" dirty="0" err="1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송·수신</a:t>
              </a: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양끝 계좌 모두 </a:t>
              </a:r>
              <a:r>
                <a:rPr lang="en-US" sz="1000" dirty="0" err="1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자금세탁</a:t>
              </a: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000" dirty="0" err="1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의심</a:t>
              </a: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000" dirty="0" err="1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계좌로</a:t>
              </a: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000" dirty="0" err="1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정의</a:t>
              </a:r>
              <a:endParaRPr lang="en-US" sz="1000" dirty="0"/>
            </a:p>
          </p:txBody>
        </p:sp>
        <p:sp>
          <p:nvSpPr>
            <p:cNvPr id="37" name="Shape 28"/>
            <p:cNvSpPr/>
            <p:nvPr/>
          </p:nvSpPr>
          <p:spPr>
            <a:xfrm>
              <a:off x="571500" y="4204842"/>
              <a:ext cx="267005" cy="267005"/>
            </a:xfrm>
            <a:prstGeom prst="ellipse">
              <a:avLst/>
            </a:prstGeom>
            <a:solidFill>
              <a:srgbClr val="EBF8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29"/>
            <p:cNvSpPr/>
            <p:nvPr/>
          </p:nvSpPr>
          <p:spPr>
            <a:xfrm>
              <a:off x="543154" y="4204842"/>
              <a:ext cx="324612" cy="26700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2B6CB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endParaRPr lang="en-US" sz="1000" dirty="0"/>
            </a:p>
          </p:txBody>
        </p:sp>
        <p:sp>
          <p:nvSpPr>
            <p:cNvPr id="39" name="Text 30"/>
            <p:cNvSpPr txBox="1"/>
            <p:nvPr/>
          </p:nvSpPr>
          <p:spPr>
            <a:xfrm>
              <a:off x="968847" y="4121472"/>
              <a:ext cx="30486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탐지 시나리오</a:t>
              </a:r>
              <a:endParaRPr lang="en-US" sz="1200" dirty="0"/>
            </a:p>
          </p:txBody>
        </p:sp>
        <p:sp>
          <p:nvSpPr>
            <p:cNvPr id="40" name="Text 31"/>
            <p:cNvSpPr txBox="1"/>
            <p:nvPr/>
          </p:nvSpPr>
          <p:spPr>
            <a:xfrm>
              <a:off x="968847" y="4292225"/>
              <a:ext cx="293431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 err="1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실시간보다는</a:t>
              </a: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000" b="1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사후 보고</a:t>
              </a:r>
              <a:r>
                <a:rPr lang="ko-KR" alt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를 위한 </a:t>
              </a:r>
              <a:r>
                <a:rPr lang="en-US" sz="1000" dirty="0" err="1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시간</a:t>
              </a: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000" dirty="0" err="1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배치</a:t>
              </a: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000" dirty="0" err="1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분석</a:t>
              </a:r>
              <a:endParaRPr lang="en-US" sz="1000" dirty="0"/>
            </a:p>
          </p:txBody>
        </p:sp>
        <p:sp>
          <p:nvSpPr>
            <p:cNvPr id="41" name="Shape 32"/>
            <p:cNvSpPr/>
            <p:nvPr/>
          </p:nvSpPr>
          <p:spPr>
            <a:xfrm>
              <a:off x="571500" y="5125803"/>
              <a:ext cx="267005" cy="267005"/>
            </a:xfrm>
            <a:prstGeom prst="ellipse">
              <a:avLst/>
            </a:prstGeom>
            <a:solidFill>
              <a:srgbClr val="EBF8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33"/>
            <p:cNvSpPr/>
            <p:nvPr/>
          </p:nvSpPr>
          <p:spPr>
            <a:xfrm>
              <a:off x="543154" y="5141845"/>
              <a:ext cx="324612" cy="26700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2B6CB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</a:t>
              </a:r>
              <a:endParaRPr lang="en-US" sz="1000" dirty="0"/>
            </a:p>
          </p:txBody>
        </p:sp>
        <p:sp>
          <p:nvSpPr>
            <p:cNvPr id="43" name="Text 34"/>
            <p:cNvSpPr txBox="1"/>
            <p:nvPr/>
          </p:nvSpPr>
          <p:spPr>
            <a:xfrm>
              <a:off x="968847" y="4995221"/>
              <a:ext cx="30486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과거 정보 기반</a:t>
              </a:r>
              <a:endParaRPr lang="en-US" sz="1200" dirty="0"/>
            </a:p>
          </p:txBody>
        </p:sp>
        <p:sp>
          <p:nvSpPr>
            <p:cNvPr id="44" name="Text 35"/>
            <p:cNvSpPr txBox="1"/>
            <p:nvPr/>
          </p:nvSpPr>
          <p:spPr>
            <a:xfrm>
              <a:off x="968847" y="5229228"/>
              <a:ext cx="293431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시계열(60:20:20) </a:t>
              </a:r>
              <a:r>
                <a:rPr lang="en-US" sz="1000" dirty="0" err="1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분할로</a:t>
              </a: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b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en-US" sz="1000" dirty="0" err="1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미래</a:t>
              </a:r>
              <a:r>
                <a:rPr lang="en-US" sz="10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시점의 </a:t>
              </a:r>
              <a:r>
                <a:rPr lang="en-US" sz="1000" b="1" dirty="0">
                  <a:solidFill>
                    <a:srgbClr val="E53E3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누수(Leakage) 엄격 차단</a:t>
              </a:r>
              <a:endParaRPr lang="en-US" sz="1000" dirty="0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BBCA71B7-2945-4BFB-E979-2E67C25598A8}"/>
              </a:ext>
            </a:extLst>
          </p:cNvPr>
          <p:cNvGrpSpPr/>
          <p:nvPr/>
        </p:nvGrpSpPr>
        <p:grpSpPr>
          <a:xfrm>
            <a:off x="339107" y="1438125"/>
            <a:ext cx="3638398" cy="4781398"/>
            <a:chOff x="4286707" y="1438125"/>
            <a:chExt cx="3638398" cy="4781398"/>
          </a:xfrm>
        </p:grpSpPr>
        <p:sp>
          <p:nvSpPr>
            <p:cNvPr id="6" name="Shape 4"/>
            <p:cNvSpPr/>
            <p:nvPr/>
          </p:nvSpPr>
          <p:spPr>
            <a:xfrm>
              <a:off x="4286707" y="1438125"/>
              <a:ext cx="3638398" cy="4781398"/>
            </a:xfrm>
            <a:prstGeom prst="roundRect">
              <a:avLst>
                <a:gd name="adj" fmla="val 1053"/>
              </a:avLst>
            </a:prstGeom>
            <a:solidFill>
              <a:srgbClr val="FFFFFF"/>
            </a:solidFill>
            <a:ln w="12700">
              <a:solidFill>
                <a:srgbClr val="CBD5E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3"/>
            <a:srcRect t="-404" b="-404"/>
            <a:stretch/>
          </p:blipFill>
          <p:spPr>
            <a:xfrm>
              <a:off x="4286707" y="1438125"/>
              <a:ext cx="3619195" cy="57607"/>
            </a:xfrm>
            <a:prstGeom prst="rect">
              <a:avLst/>
            </a:prstGeom>
          </p:spPr>
        </p:pic>
        <p:pic>
          <p:nvPicPr>
            <p:cNvPr id="11" name="Image 3" descr="preencoded.png"/>
            <p:cNvPicPr>
              <a:picLocks noChangeAspect="1"/>
            </p:cNvPicPr>
            <p:nvPr/>
          </p:nvPicPr>
          <p:blipFill>
            <a:blip r:embed="rId4"/>
            <a:srcRect l="-2089" r="-2089"/>
            <a:stretch/>
          </p:blipFill>
          <p:spPr>
            <a:xfrm>
              <a:off x="4476902" y="2200735"/>
              <a:ext cx="3238805" cy="9144"/>
            </a:xfrm>
            <a:prstGeom prst="rect">
              <a:avLst/>
            </a:prstGeom>
          </p:spPr>
        </p:pic>
        <p:sp>
          <p:nvSpPr>
            <p:cNvPr id="12" name="Shape 6"/>
            <p:cNvSpPr/>
            <p:nvPr/>
          </p:nvSpPr>
          <p:spPr>
            <a:xfrm>
              <a:off x="4476902" y="2390930"/>
              <a:ext cx="3276295" cy="619049"/>
            </a:xfrm>
            <a:prstGeom prst="roundRect">
              <a:avLst>
                <a:gd name="adj" fmla="val 27270"/>
              </a:avLst>
            </a:prstGeom>
            <a:solidFill>
              <a:srgbClr val="F7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7"/>
            <p:cNvSpPr/>
            <p:nvPr/>
          </p:nvSpPr>
          <p:spPr>
            <a:xfrm>
              <a:off x="4476902" y="2390930"/>
              <a:ext cx="38405" cy="619049"/>
            </a:xfrm>
            <a:prstGeom prst="roundRect">
              <a:avLst>
                <a:gd name="adj" fmla="val 439558"/>
              </a:avLst>
            </a:prstGeom>
            <a:solidFill>
              <a:srgbClr val="A0AEC0"/>
            </a:solidFill>
            <a:ln w="12700">
              <a:solidFill>
                <a:srgbClr val="A0AEC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8"/>
            <p:cNvSpPr/>
            <p:nvPr/>
          </p:nvSpPr>
          <p:spPr>
            <a:xfrm>
              <a:off x="4476902" y="3296186"/>
              <a:ext cx="3276295" cy="619049"/>
            </a:xfrm>
            <a:prstGeom prst="roundRect">
              <a:avLst>
                <a:gd name="adj" fmla="val 27270"/>
              </a:avLst>
            </a:prstGeom>
            <a:solidFill>
              <a:srgbClr val="EBF8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9"/>
            <p:cNvSpPr/>
            <p:nvPr/>
          </p:nvSpPr>
          <p:spPr>
            <a:xfrm>
              <a:off x="4476902" y="3296186"/>
              <a:ext cx="38405" cy="619049"/>
            </a:xfrm>
            <a:prstGeom prst="roundRect">
              <a:avLst>
                <a:gd name="adj" fmla="val 439558"/>
              </a:avLst>
            </a:prstGeom>
            <a:solidFill>
              <a:srgbClr val="63B3ED"/>
            </a:solidFill>
            <a:ln w="12700">
              <a:solidFill>
                <a:srgbClr val="63B3E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Shape 10"/>
            <p:cNvSpPr/>
            <p:nvPr/>
          </p:nvSpPr>
          <p:spPr>
            <a:xfrm>
              <a:off x="4476902" y="4200528"/>
              <a:ext cx="3276295" cy="619049"/>
            </a:xfrm>
            <a:prstGeom prst="roundRect">
              <a:avLst>
                <a:gd name="adj" fmla="val 27270"/>
              </a:avLst>
            </a:prstGeom>
            <a:solidFill>
              <a:srgbClr val="E6FFF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1"/>
            <p:cNvSpPr/>
            <p:nvPr/>
          </p:nvSpPr>
          <p:spPr>
            <a:xfrm>
              <a:off x="4476902" y="4200528"/>
              <a:ext cx="38405" cy="619049"/>
            </a:xfrm>
            <a:prstGeom prst="roundRect">
              <a:avLst>
                <a:gd name="adj" fmla="val 439558"/>
              </a:avLst>
            </a:prstGeom>
            <a:solidFill>
              <a:srgbClr val="38B2AC"/>
            </a:solidFill>
            <a:ln w="12700">
              <a:solidFill>
                <a:srgbClr val="38B2A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2"/>
            <p:cNvSpPr/>
            <p:nvPr/>
          </p:nvSpPr>
          <p:spPr>
            <a:xfrm>
              <a:off x="4476902" y="5105784"/>
              <a:ext cx="3276295" cy="619049"/>
            </a:xfrm>
            <a:prstGeom prst="roundRect">
              <a:avLst>
                <a:gd name="adj" fmla="val 27270"/>
              </a:avLst>
            </a:prstGeom>
            <a:solidFill>
              <a:srgbClr val="2B6CB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Shape 13"/>
            <p:cNvSpPr/>
            <p:nvPr/>
          </p:nvSpPr>
          <p:spPr>
            <a:xfrm>
              <a:off x="4476902" y="5105784"/>
              <a:ext cx="38405" cy="619049"/>
            </a:xfrm>
            <a:prstGeom prst="roundRect">
              <a:avLst>
                <a:gd name="adj" fmla="val 439558"/>
              </a:avLst>
            </a:prstGeom>
            <a:solidFill>
              <a:srgbClr val="1A365D"/>
            </a:solidFill>
            <a:ln w="12700">
              <a:solidFill>
                <a:srgbClr val="1A365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5" name="Image 7" descr="preencoded.png"/>
            <p:cNvPicPr>
              <a:picLocks noChangeAspect="1"/>
            </p:cNvPicPr>
            <p:nvPr/>
          </p:nvPicPr>
          <p:blipFill>
            <a:blip r:embed="rId6"/>
            <a:srcRect l="-57" r="-57"/>
            <a:stretch/>
          </p:blipFill>
          <p:spPr>
            <a:xfrm>
              <a:off x="4529023" y="1762737"/>
              <a:ext cx="200254" cy="228600"/>
            </a:xfrm>
            <a:prstGeom prst="rect">
              <a:avLst/>
            </a:prstGeom>
          </p:spPr>
        </p:pic>
        <p:sp>
          <p:nvSpPr>
            <p:cNvPr id="46" name="Text 36"/>
            <p:cNvSpPr txBox="1"/>
            <p:nvPr/>
          </p:nvSpPr>
          <p:spPr>
            <a:xfrm>
              <a:off x="4905756" y="1724332"/>
              <a:ext cx="295351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단계별 실험 설계</a:t>
              </a:r>
              <a:endParaRPr lang="en-US" sz="1600" dirty="0"/>
            </a:p>
          </p:txBody>
        </p:sp>
        <p:sp>
          <p:nvSpPr>
            <p:cNvPr id="47" name="Text 37"/>
            <p:cNvSpPr txBox="1"/>
            <p:nvPr/>
          </p:nvSpPr>
          <p:spPr>
            <a:xfrm>
              <a:off x="4667098" y="2486028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71809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Step 1. 기본 모델 (대조군)</a:t>
              </a:r>
              <a:endParaRPr lang="en-US" sz="900" dirty="0"/>
            </a:p>
          </p:txBody>
        </p:sp>
        <p:sp>
          <p:nvSpPr>
            <p:cNvPr id="48" name="Text 38"/>
            <p:cNvSpPr txBox="1"/>
            <p:nvPr/>
          </p:nvSpPr>
          <p:spPr>
            <a:xfrm>
              <a:off x="4667098" y="2695425"/>
              <a:ext cx="30678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XGB </a:t>
              </a:r>
              <a:r>
                <a:rPr lang="ko-KR" alt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모델</a:t>
              </a:r>
              <a:r>
                <a:rPr lang="en-US" altLang="ko-KR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</a:t>
              </a:r>
              <a:r>
                <a:rPr lang="ko-KR" alt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기초 통계 피처</a:t>
              </a:r>
              <a:r>
                <a:rPr lang="en-US" altLang="ko-KR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  <a:endParaRPr lang="en-US" sz="1200" dirty="0"/>
            </a:p>
          </p:txBody>
        </p:sp>
        <p:pic>
          <p:nvPicPr>
            <p:cNvPr id="49" name="Image 8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019495" y="3076730"/>
              <a:ext cx="152705" cy="152705"/>
            </a:xfrm>
            <a:prstGeom prst="rect">
              <a:avLst/>
            </a:prstGeom>
          </p:spPr>
        </p:pic>
        <p:sp>
          <p:nvSpPr>
            <p:cNvPr id="50" name="Text 39"/>
            <p:cNvSpPr txBox="1"/>
            <p:nvPr/>
          </p:nvSpPr>
          <p:spPr>
            <a:xfrm>
              <a:off x="4667098" y="3391284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299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Step 2. 실무 확장형</a:t>
              </a:r>
              <a:endParaRPr lang="en-US" sz="900" dirty="0"/>
            </a:p>
          </p:txBody>
        </p:sp>
        <p:sp>
          <p:nvSpPr>
            <p:cNvPr id="51" name="Text 40"/>
            <p:cNvSpPr txBox="1"/>
            <p:nvPr/>
          </p:nvSpPr>
          <p:spPr>
            <a:xfrm>
              <a:off x="4667098" y="3600681"/>
              <a:ext cx="30678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altLang="ko-KR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XGB</a:t>
              </a:r>
              <a:r>
                <a:rPr 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b="1" dirty="0" err="1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모델</a:t>
              </a:r>
              <a:r>
                <a:rPr 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</a:t>
              </a:r>
              <a:r>
                <a:rPr lang="ko-KR" alt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기초 통계 피처 </a:t>
              </a:r>
              <a:r>
                <a:rPr lang="en-US" altLang="ko-KR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+ </a:t>
              </a:r>
              <a:r>
                <a:rPr lang="ko-KR" alt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그래프 피처</a:t>
              </a:r>
              <a:r>
                <a:rPr 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  <a:endParaRPr lang="en-US" sz="1200" dirty="0"/>
            </a:p>
          </p:txBody>
        </p:sp>
        <p:pic>
          <p:nvPicPr>
            <p:cNvPr id="52" name="Image 9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019495" y="3981986"/>
              <a:ext cx="152705" cy="152705"/>
            </a:xfrm>
            <a:prstGeom prst="rect">
              <a:avLst/>
            </a:prstGeom>
          </p:spPr>
        </p:pic>
        <p:sp>
          <p:nvSpPr>
            <p:cNvPr id="53" name="Text 41"/>
            <p:cNvSpPr txBox="1"/>
            <p:nvPr/>
          </p:nvSpPr>
          <p:spPr>
            <a:xfrm>
              <a:off x="4667098" y="4295625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1979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Step 3. 연구 심화형</a:t>
              </a:r>
              <a:endParaRPr lang="en-US" sz="900" dirty="0"/>
            </a:p>
          </p:txBody>
        </p:sp>
        <p:sp>
          <p:nvSpPr>
            <p:cNvPr id="54" name="Text 42"/>
            <p:cNvSpPr txBox="1"/>
            <p:nvPr/>
          </p:nvSpPr>
          <p:spPr>
            <a:xfrm>
              <a:off x="4667098" y="4505937"/>
              <a:ext cx="30678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GNN </a:t>
              </a:r>
              <a:r>
                <a:rPr lang="ko-KR" alt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모델</a:t>
              </a:r>
              <a:r>
                <a:rPr 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(1-Stage) </a:t>
              </a:r>
              <a:endParaRPr lang="en-US" sz="1200" dirty="0"/>
            </a:p>
          </p:txBody>
        </p:sp>
        <p:pic>
          <p:nvPicPr>
            <p:cNvPr id="55" name="Image 10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019495" y="4886328"/>
              <a:ext cx="152705" cy="152705"/>
            </a:xfrm>
            <a:prstGeom prst="rect">
              <a:avLst/>
            </a:prstGeom>
          </p:spPr>
        </p:pic>
        <p:sp>
          <p:nvSpPr>
            <p:cNvPr id="56" name="Text 43"/>
            <p:cNvSpPr txBox="1"/>
            <p:nvPr/>
          </p:nvSpPr>
          <p:spPr>
            <a:xfrm>
              <a:off x="4667098" y="5200881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0CDF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Step 4. 최적 모델 도출</a:t>
              </a:r>
              <a:endParaRPr lang="en-US" sz="900" dirty="0"/>
            </a:p>
          </p:txBody>
        </p:sp>
        <p:sp>
          <p:nvSpPr>
            <p:cNvPr id="57" name="Text 44"/>
            <p:cNvSpPr txBox="1"/>
            <p:nvPr/>
          </p:nvSpPr>
          <p:spPr>
            <a:xfrm>
              <a:off x="4667098" y="5410279"/>
              <a:ext cx="30678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GNN </a:t>
              </a:r>
              <a:r>
                <a:rPr lang="ko-KR" altLang="en-US" sz="1200" b="1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임베딩</a:t>
              </a:r>
              <a:r>
                <a:rPr lang="ko-KR" alt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추출 </a:t>
              </a:r>
              <a:r>
                <a:rPr lang="en-US" altLang="ko-KR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+</a:t>
              </a:r>
              <a:r>
                <a:rPr lang="ko-KR" alt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XGB </a:t>
              </a:r>
              <a:r>
                <a:rPr lang="ko-KR" alt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모델</a:t>
              </a: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결합</a:t>
              </a: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(2-Stage)</a:t>
              </a:r>
              <a:endParaRPr lang="en-US" sz="1200" dirty="0"/>
            </a:p>
          </p:txBody>
        </p:sp>
      </p:grp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19795" y="1762737"/>
            <a:ext cx="228600" cy="228600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8810244" y="1724332"/>
            <a:ext cx="2953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</a:rPr>
              <a:t>평가 지표와 목표</a:t>
            </a:r>
            <a:endParaRPr lang="en-US" sz="1600" dirty="0"/>
          </a:p>
        </p:txBody>
      </p:sp>
      <p:sp>
        <p:nvSpPr>
          <p:cNvPr id="60" name="Text 46"/>
          <p:cNvSpPr txBox="1"/>
          <p:nvPr/>
        </p:nvSpPr>
        <p:spPr>
          <a:xfrm>
            <a:off x="8715146" y="2789094"/>
            <a:ext cx="2953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정밀도·재현율</a:t>
            </a: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</a:t>
            </a:r>
            <a:r>
              <a:rPr lang="en-US" sz="1000" b="1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- </a:t>
            </a:r>
            <a:r>
              <a:rPr lang="ko-KR" alt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</a:t>
            </a:r>
            <a:endParaRPr lang="en-US" sz="1000" dirty="0"/>
          </a:p>
        </p:txBody>
      </p:sp>
      <p:sp>
        <p:nvSpPr>
          <p:cNvPr id="61" name="Text 47"/>
          <p:cNvSpPr txBox="1"/>
          <p:nvPr/>
        </p:nvSpPr>
        <p:spPr>
          <a:xfrm>
            <a:off x="8467344" y="3056099"/>
            <a:ext cx="3067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AUPRC </a:t>
            </a:r>
            <a:r>
              <a:rPr lang="ko-KR" altLang="en-US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극대화</a:t>
            </a:r>
            <a:endParaRPr lang="en-US" sz="1800" dirty="0"/>
          </a:p>
        </p:txBody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24951" y="2824756"/>
            <a:ext cx="133502" cy="133502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8753551" y="3836996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운영 지표 (</a:t>
            </a:r>
            <a:r>
              <a:rPr lang="en-US" sz="1000" b="1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- </a:t>
            </a:r>
            <a:r>
              <a:rPr lang="ko-KR" alt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</a:t>
            </a:r>
            <a:endParaRPr lang="en-US" sz="1000" dirty="0"/>
          </a:p>
        </p:txBody>
      </p:sp>
      <p:sp>
        <p:nvSpPr>
          <p:cNvPr id="64" name="Text 49"/>
          <p:cNvSpPr txBox="1"/>
          <p:nvPr/>
        </p:nvSpPr>
        <p:spPr>
          <a:xfrm>
            <a:off x="8467344" y="4104001"/>
            <a:ext cx="3067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4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</a:t>
            </a:r>
            <a:r>
              <a:rPr lang="en-US" b="1" dirty="0">
                <a:solidFill>
                  <a:srgbClr val="344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</a:t>
            </a:r>
            <a:r>
              <a:rPr lang="en-US" sz="1800" b="1" dirty="0">
                <a:solidFill>
                  <a:srgbClr val="344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F1 </a:t>
            </a:r>
            <a:r>
              <a:rPr lang="en-US" sz="1800" b="1" dirty="0" err="1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극대화</a:t>
            </a:r>
            <a:r>
              <a:rPr lang="en-US" sz="18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b="1" dirty="0">
                <a:solidFill>
                  <a:srgbClr val="344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 = 3000)</a:t>
            </a:r>
            <a:endParaRPr lang="en-US" sz="1800" dirty="0">
              <a:solidFill>
                <a:srgbClr val="344D70"/>
              </a:solidFill>
            </a:endParaRPr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8524951" y="3872658"/>
            <a:ext cx="171907" cy="133502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8753551" y="4884899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신종·복잡 수법 대응력 (</a:t>
            </a:r>
            <a:r>
              <a:rPr lang="en-US" sz="1000" b="1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</a:t>
            </a: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- </a:t>
            </a:r>
            <a:r>
              <a:rPr lang="ko-KR" alt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</a:t>
            </a:r>
            <a:endParaRPr lang="en-US" sz="1000" dirty="0"/>
          </a:p>
        </p:txBody>
      </p:sp>
      <p:sp>
        <p:nvSpPr>
          <p:cNvPr id="67" name="Text 51"/>
          <p:cNvSpPr txBox="1"/>
          <p:nvPr/>
        </p:nvSpPr>
        <p:spPr>
          <a:xfrm>
            <a:off x="8429854" y="5151904"/>
            <a:ext cx="3143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8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</a:t>
            </a:r>
            <a:r>
              <a:rPr lang="en-US" sz="1800" b="1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</a:t>
            </a:r>
            <a:r>
              <a:rPr lang="ko-KR" altLang="en-US" sz="18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율</a:t>
            </a:r>
            <a:r>
              <a:rPr lang="ko-KR" alt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20% </a:t>
            </a:r>
            <a:r>
              <a:rPr lang="ko-KR" altLang="en-US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</a:t>
            </a:r>
            <a:r>
              <a:rPr lang="en-US" altLang="ko-KR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향상</a:t>
            </a:r>
            <a:endParaRPr lang="en-US" sz="1800" dirty="0"/>
          </a:p>
        </p:txBody>
      </p:sp>
      <p:pic>
        <p:nvPicPr>
          <p:cNvPr id="68" name="Image 14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8524951" y="4920560"/>
            <a:ext cx="171907" cy="133502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267005" y="6476695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70" name="Image 1">
            <a:extLst>
              <a:ext uri="{FF2B5EF4-FFF2-40B4-BE49-F238E27FC236}">
                <a16:creationId xmlns:a16="http://schemas.microsoft.com/office/drawing/2014/main" id="{3994FBC8-69AE-4CB8-E4B0-3D01FEA2FDA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72" name="TextBox 7">
            <a:extLst>
              <a:ext uri="{FF2B5EF4-FFF2-40B4-BE49-F238E27FC236}">
                <a16:creationId xmlns:a16="http://schemas.microsoft.com/office/drawing/2014/main" id="{544814E3-F17E-68D8-4B9D-0F4701B40ABE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291"/>
    </mc:Choice>
    <mc:Fallback xmlns="">
      <p:transition spd="slow" advTm="19529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1714500"/>
            <a:ext cx="3638398" cy="4619549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1714500"/>
            <a:ext cx="3638398" cy="38405"/>
          </a:xfrm>
          <a:prstGeom prst="roundRect">
            <a:avLst>
              <a:gd name="adj" fmla="val 99725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86707" y="1714500"/>
            <a:ext cx="3638398" cy="4619549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286707" y="1714500"/>
            <a:ext cx="3638398" cy="38405"/>
          </a:xfrm>
          <a:prstGeom prst="roundRect">
            <a:avLst>
              <a:gd name="adj" fmla="val 99725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191195" y="1714500"/>
            <a:ext cx="3638398" cy="4619549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191195" y="1714500"/>
            <a:ext cx="3638398" cy="38405"/>
          </a:xfrm>
          <a:prstGeom prst="roundRect">
            <a:avLst>
              <a:gd name="adj" fmla="val 99725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571500" y="2428646"/>
            <a:ext cx="3238805" cy="9144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476902" y="2428646"/>
            <a:ext cx="3238805" cy="9144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8382305" y="2428646"/>
            <a:ext cx="3238805" cy="91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1305" y="190195"/>
            <a:ext cx="7734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Part4. 사용 데이터와 환경 구성</a:t>
            </a:r>
            <a:endParaRPr lang="en-US" sz="2100" dirty="0"/>
          </a:p>
        </p:txBody>
      </p:sp>
      <p:sp>
        <p:nvSpPr>
          <p:cNvPr id="16" name="Shape 11"/>
          <p:cNvSpPr/>
          <p:nvPr/>
        </p:nvSpPr>
        <p:spPr>
          <a:xfrm>
            <a:off x="381305" y="1047902"/>
            <a:ext cx="47549" cy="38130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 txBox="1"/>
          <p:nvPr/>
        </p:nvSpPr>
        <p:spPr>
          <a:xfrm>
            <a:off x="571500" y="1047902"/>
            <a:ext cx="11430914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금융 생태계를 투영한 대규모 합성 데이터 분석 및 리스크 대응 체계 구축</a:t>
            </a:r>
            <a:endParaRPr lang="en-US" sz="16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09574" y="2029054"/>
            <a:ext cx="200254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47902" y="1952244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데이터셋 개요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14807" y="2572207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35E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 IBM AMLWorld (HI-Medium)</a:t>
            </a:r>
            <a:endParaRPr lang="en-US" sz="1200" b="1" dirty="0">
              <a:solidFill>
                <a:srgbClr val="535E70"/>
              </a:solidFill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-511888" y="2952598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규모 (Edge)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132621" y="2842476"/>
            <a:ext cx="3429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3,200만 건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-489942" y="3372307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계좌 규모 (Node)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70873" y="3313786"/>
            <a:ext cx="33531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208만 개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-581879" y="381475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기간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100537" y="3768724"/>
            <a:ext cx="34646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28일 </a:t>
            </a:r>
            <a:r>
              <a:rPr lang="en-US" sz="13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(연속된 거래 내역)</a:t>
            </a:r>
            <a:endParaRPr lang="en-US" sz="21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4586630" y="2029054"/>
            <a:ext cx="256946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953305" y="1952244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특성과 그래프 구조</a:t>
            </a:r>
            <a:endParaRPr lang="en-US" sz="15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F85A3D6-691B-C386-5786-3660CB3F362E}"/>
              </a:ext>
            </a:extLst>
          </p:cNvPr>
          <p:cNvGrpSpPr/>
          <p:nvPr/>
        </p:nvGrpSpPr>
        <p:grpSpPr>
          <a:xfrm>
            <a:off x="4480103" y="4378832"/>
            <a:ext cx="3578047" cy="1156459"/>
            <a:chOff x="4476902" y="2667305"/>
            <a:chExt cx="3578047" cy="1156459"/>
          </a:xfrm>
        </p:grpSpPr>
        <p:sp>
          <p:nvSpPr>
            <p:cNvPr id="29" name="Text 22"/>
            <p:cNvSpPr txBox="1"/>
            <p:nvPr/>
          </p:nvSpPr>
          <p:spPr>
            <a:xfrm>
              <a:off x="4476902" y="2667305"/>
              <a:ext cx="33531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그래프 구조</a:t>
              </a:r>
              <a:endParaRPr lang="en-US" sz="1200" dirty="0"/>
            </a:p>
          </p:txBody>
        </p:sp>
        <p:sp>
          <p:nvSpPr>
            <p:cNvPr id="30" name="Text 23"/>
            <p:cNvSpPr txBox="1"/>
            <p:nvPr/>
          </p:nvSpPr>
          <p:spPr>
            <a:xfrm>
              <a:off x="4476902" y="3007044"/>
              <a:ext cx="349209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2B6CB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■ </a:t>
              </a:r>
              <a:r>
                <a:rPr lang="en-US" sz="1100" b="1" dirty="0" err="1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방향성</a:t>
              </a:r>
              <a:r>
                <a:rPr 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(Directed):</a:t>
              </a:r>
              <a:r>
                <a:rPr lang="en-US" sz="11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송금과 수신의 명확한 흐름</a:t>
              </a:r>
              <a:endParaRPr lang="en-US" sz="1100" dirty="0"/>
            </a:p>
          </p:txBody>
        </p:sp>
        <p:sp>
          <p:nvSpPr>
            <p:cNvPr id="31" name="Text 24"/>
            <p:cNvSpPr txBox="1"/>
            <p:nvPr/>
          </p:nvSpPr>
          <p:spPr>
            <a:xfrm>
              <a:off x="4476902" y="3315277"/>
              <a:ext cx="347563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2B6CB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■ </a:t>
              </a:r>
              <a:r>
                <a:rPr lang="en-US" sz="1100" b="1" dirty="0" err="1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다중성</a:t>
              </a:r>
              <a:r>
                <a:rPr 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(Multi-edge):</a:t>
              </a:r>
              <a:r>
                <a:rPr lang="en-US" sz="11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동일 계좌 간 반복 거래</a:t>
              </a:r>
              <a:endParaRPr lang="en-US" sz="1100" dirty="0"/>
            </a:p>
          </p:txBody>
        </p:sp>
        <p:sp>
          <p:nvSpPr>
            <p:cNvPr id="32" name="Text 25"/>
            <p:cNvSpPr txBox="1"/>
            <p:nvPr/>
          </p:nvSpPr>
          <p:spPr>
            <a:xfrm>
              <a:off x="4476902" y="3623510"/>
              <a:ext cx="357804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2B6CB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■ </a:t>
              </a:r>
              <a:r>
                <a:rPr lang="en-US" sz="1100" b="1" dirty="0" err="1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시계열</a:t>
              </a:r>
              <a:r>
                <a:rPr 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(Temporal):</a:t>
              </a:r>
              <a:r>
                <a:rPr lang="en-US" sz="1100" dirty="0">
                  <a:solidFill>
                    <a:srgbClr val="4A556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시간 순서에 따른 맥락 반영</a:t>
              </a:r>
              <a:endParaRPr lang="en-US" sz="1100" dirty="0"/>
            </a:p>
          </p:txBody>
        </p:sp>
      </p:grp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8477402" y="2029054"/>
            <a:ext cx="286207" cy="2286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858707" y="1952244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및 제약 대응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8382305" y="2594735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최적화 (OOM 방지)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8382305" y="2841856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Polars Lazy API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Parquet 포맷 활용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데이터 타입 최적화 (float32/int32 전환)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8382305" y="335053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그래프 학습 연산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8382305" y="3574073"/>
            <a:ext cx="33147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 Geometric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프레임워크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수천만 건 연결 처리를 위한 Neighbor Sampling 및 미니배치 학습(NeighborLoader) 도입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8382305" y="4267581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환경 인프라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8382305" y="4505630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Colab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Pro+ (T4 GPU </a:t>
            </a:r>
            <a:r>
              <a:rPr lang="ko-KR" alt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Weights &amp; Biases (W&amp;B)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통한 실험 추적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8382305" y="5085973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누수(Leakage) 엄격 차단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8382305" y="5228772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시계열 기반 </a:t>
            </a:r>
            <a:r>
              <a:rPr lang="en-US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6:2:2 분할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준수 및 과거 정보만으로 변수 생성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267005" y="6520237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47" name="Image 1">
            <a:extLst>
              <a:ext uri="{FF2B5EF4-FFF2-40B4-BE49-F238E27FC236}">
                <a16:creationId xmlns:a16="http://schemas.microsoft.com/office/drawing/2014/main" id="{20E61BE0-5BB2-94E1-F5F9-229BE967128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49" name="TextBox 7">
            <a:extLst>
              <a:ext uri="{FF2B5EF4-FFF2-40B4-BE49-F238E27FC236}">
                <a16:creationId xmlns:a16="http://schemas.microsoft.com/office/drawing/2014/main" id="{55DB5D48-A59A-1210-5305-A0E2A3C627C1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EAC649D8-01F1-5466-9A83-6A02367FEE19}"/>
              </a:ext>
            </a:extLst>
          </p:cNvPr>
          <p:cNvSpPr/>
          <p:nvPr/>
        </p:nvSpPr>
        <p:spPr>
          <a:xfrm>
            <a:off x="571500" y="4324198"/>
            <a:ext cx="3258007" cy="1829818"/>
          </a:xfrm>
          <a:prstGeom prst="roundRect">
            <a:avLst>
              <a:gd name="adj" fmla="val 28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562C4A45-8294-9287-E249-39879883716E}"/>
              </a:ext>
            </a:extLst>
          </p:cNvPr>
          <p:cNvSpPr txBox="1"/>
          <p:nvPr/>
        </p:nvSpPr>
        <p:spPr>
          <a:xfrm>
            <a:off x="951891" y="4500082"/>
            <a:ext cx="28584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</a:rPr>
              <a:t>해당 데이터의 가치</a:t>
            </a:r>
            <a:endParaRPr lang="en-US" sz="1200" dirty="0"/>
          </a:p>
        </p:txBody>
      </p:sp>
      <p:pic>
        <p:nvPicPr>
          <p:cNvPr id="51" name="Image 5" descr="preencoded.png">
            <a:extLst>
              <a:ext uri="{FF2B5EF4-FFF2-40B4-BE49-F238E27FC236}">
                <a16:creationId xmlns:a16="http://schemas.microsoft.com/office/drawing/2014/main" id="{1616890E-01FA-8FD7-1DD7-9557F0C3699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761696" y="4532503"/>
            <a:ext cx="114300" cy="152705"/>
          </a:xfrm>
          <a:prstGeom prst="rect">
            <a:avLst/>
          </a:prstGeom>
        </p:spPr>
      </p:pic>
      <p:sp>
        <p:nvSpPr>
          <p:cNvPr id="53" name="Text 27">
            <a:extLst>
              <a:ext uri="{FF2B5EF4-FFF2-40B4-BE49-F238E27FC236}">
                <a16:creationId xmlns:a16="http://schemas.microsoft.com/office/drawing/2014/main" id="{69E3E63B-B8FF-E9F5-12E4-CCD1A4BA54C9}"/>
              </a:ext>
            </a:extLst>
          </p:cNvPr>
          <p:cNvSpPr txBox="1"/>
          <p:nvPr/>
        </p:nvSpPr>
        <p:spPr>
          <a:xfrm>
            <a:off x="765432" y="4849272"/>
            <a:ext cx="29343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전처리를 통해 은행명으로 국가명을 도출한 결과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국경 간 결제가 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42%  -&gt; Project Hertha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추후 과제로 언급한 그래프 분석 핵심 적용 영역</a:t>
            </a:r>
            <a:b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8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b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소액 </a:t>
            </a:r>
            <a:r>
              <a:rPr lang="ko-KR" alt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결제뿐만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아니라 기업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고액 결제까지 포함하여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간 정보 단절 문제를 극복한 통합적</a:t>
            </a:r>
            <a:b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분석 가능</a:t>
            </a:r>
            <a:endParaRPr lang="en-US" sz="1100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F9159A4-3C19-71E8-4CC4-D085625C22CA}"/>
              </a:ext>
            </a:extLst>
          </p:cNvPr>
          <p:cNvGrpSpPr/>
          <p:nvPr/>
        </p:nvGrpSpPr>
        <p:grpSpPr>
          <a:xfrm>
            <a:off x="4502713" y="2587351"/>
            <a:ext cx="3586069" cy="1562678"/>
            <a:chOff x="4484884" y="4359442"/>
            <a:chExt cx="3586069" cy="1562678"/>
          </a:xfrm>
        </p:grpSpPr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D95BABA9-168E-89BB-39DF-9B01B51266E5}"/>
                </a:ext>
              </a:extLst>
            </p:cNvPr>
            <p:cNvSpPr txBox="1"/>
            <p:nvPr/>
          </p:nvSpPr>
          <p:spPr>
            <a:xfrm>
              <a:off x="4484884" y="4359442"/>
              <a:ext cx="33531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2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특성</a:t>
              </a:r>
              <a:endParaRPr lang="en-US" sz="1200" dirty="0"/>
            </a:p>
          </p:txBody>
        </p:sp>
        <p:sp>
          <p:nvSpPr>
            <p:cNvPr id="56" name="Text 25">
              <a:extLst>
                <a:ext uri="{FF2B5EF4-FFF2-40B4-BE49-F238E27FC236}">
                  <a16:creationId xmlns:a16="http://schemas.microsoft.com/office/drawing/2014/main" id="{CFF55F06-D516-F32B-4555-F62502C57939}"/>
                </a:ext>
              </a:extLst>
            </p:cNvPr>
            <p:cNvSpPr txBox="1"/>
            <p:nvPr/>
          </p:nvSpPr>
          <p:spPr>
            <a:xfrm>
              <a:off x="4484884" y="4646562"/>
              <a:ext cx="3578047" cy="4201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dirty="0">
                  <a:solidFill>
                    <a:srgbClr val="2B6CB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■ </a:t>
              </a:r>
              <a:r>
                <a:rPr lang="ko-KR" alt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전체 자금 세탁 주기를 모델링</a:t>
              </a:r>
              <a:br>
                <a:rPr lang="en-US" altLang="ko-KR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en-US" altLang="ko-KR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    </a:t>
              </a:r>
              <a:r>
                <a:rPr lang="en-US" altLang="ko-KR" sz="1100" b="1" dirty="0">
                  <a:solidFill>
                    <a:srgbClr val="27674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Placement  -&gt; </a:t>
              </a:r>
              <a:r>
                <a:rPr lang="en-US" altLang="ko-KR" sz="1100" b="1" dirty="0">
                  <a:solidFill>
                    <a:srgbClr val="C5303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Layering -&gt; </a:t>
              </a:r>
              <a:r>
                <a:rPr lang="en-US" altLang="ko-KR" sz="1100" b="1" dirty="0">
                  <a:solidFill>
                    <a:srgbClr val="C0562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Integration</a:t>
              </a:r>
              <a:endParaRPr lang="en-US" sz="1100" dirty="0"/>
            </a:p>
          </p:txBody>
        </p:sp>
        <p:sp>
          <p:nvSpPr>
            <p:cNvPr id="57" name="Text 25">
              <a:extLst>
                <a:ext uri="{FF2B5EF4-FFF2-40B4-BE49-F238E27FC236}">
                  <a16:creationId xmlns:a16="http://schemas.microsoft.com/office/drawing/2014/main" id="{907ADD6F-3910-DE0D-71C9-141BA0B8D9F0}"/>
                </a:ext>
              </a:extLst>
            </p:cNvPr>
            <p:cNvSpPr txBox="1"/>
            <p:nvPr/>
          </p:nvSpPr>
          <p:spPr>
            <a:xfrm>
              <a:off x="4491364" y="5501993"/>
              <a:ext cx="3578047" cy="4201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dirty="0">
                  <a:solidFill>
                    <a:srgbClr val="2B6CB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■ </a:t>
              </a:r>
              <a:r>
                <a:rPr lang="ko-KR" alt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다중 은행 </a:t>
              </a:r>
              <a:r>
                <a:rPr lang="en-US" altLang="ko-KR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/ </a:t>
              </a:r>
              <a:r>
                <a:rPr lang="ko-KR" alt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다중 계좌 </a:t>
              </a:r>
              <a:r>
                <a:rPr lang="en-US" altLang="ko-KR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/ </a:t>
              </a:r>
              <a:r>
                <a:rPr lang="ko-KR" alt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다중 통화 </a:t>
              </a:r>
              <a:r>
                <a:rPr lang="en-US" altLang="ko-KR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/ </a:t>
              </a:r>
              <a:r>
                <a:rPr lang="ko-KR" alt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일부 </a:t>
              </a:r>
              <a:r>
                <a:rPr lang="en-US" altLang="ko-KR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crypto </a:t>
              </a:r>
              <a:r>
                <a:rPr lang="ko-KR" alt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포함</a:t>
              </a:r>
            </a:p>
            <a:p>
              <a:endParaRPr lang="en-US" sz="11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A4E962EC-F456-BDBF-CB12-EF424793A9B3}"/>
                </a:ext>
              </a:extLst>
            </p:cNvPr>
            <p:cNvSpPr txBox="1"/>
            <p:nvPr/>
          </p:nvSpPr>
          <p:spPr>
            <a:xfrm>
              <a:off x="4492906" y="5071676"/>
              <a:ext cx="3578047" cy="4201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dirty="0">
                  <a:solidFill>
                    <a:srgbClr val="2B6CB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■ </a:t>
              </a:r>
              <a:r>
                <a:rPr lang="ko-KR" alt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실제에 육박하는 </a:t>
              </a:r>
              <a:r>
                <a:rPr lang="en-US" altLang="ko-KR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1/950(</a:t>
              </a:r>
              <a:r>
                <a:rPr lang="ko-KR" alt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계좌</a:t>
              </a:r>
              <a:r>
                <a:rPr lang="en-US" altLang="ko-KR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  <a:r>
                <a:rPr lang="ko-KR" altLang="en-US" sz="1100" b="1" dirty="0">
                  <a:solidFill>
                    <a:srgbClr val="2D374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현실적 범죄 비율을 보유</a:t>
              </a:r>
              <a:endParaRPr lang="en-US" sz="1100" dirty="0"/>
            </a:p>
          </p:txBody>
        </p:sp>
      </p:grpSp>
      <p:sp>
        <p:nvSpPr>
          <p:cNvPr id="63" name="Text 35">
            <a:extLst>
              <a:ext uri="{FF2B5EF4-FFF2-40B4-BE49-F238E27FC236}">
                <a16:creationId xmlns:a16="http://schemas.microsoft.com/office/drawing/2014/main" id="{CBB6F382-E82E-9E6C-90F3-594157BEAA39}"/>
              </a:ext>
            </a:extLst>
          </p:cNvPr>
          <p:cNvSpPr txBox="1"/>
          <p:nvPr/>
        </p:nvSpPr>
        <p:spPr>
          <a:xfrm>
            <a:off x="8382305" y="5704730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 해소 </a:t>
            </a:r>
            <a:r>
              <a:rPr lang="en-US" altLang="ko-KR" sz="12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(1~20 </a:t>
            </a:r>
            <a:r>
              <a:rPr lang="ko-KR" altLang="en-US" sz="12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사이의 낮은 수치</a:t>
            </a:r>
            <a:r>
              <a:rPr lang="en-US" altLang="ko-KR" sz="12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00" dirty="0">
              <a:solidFill>
                <a:srgbClr val="2B6CB0"/>
              </a:solidFill>
            </a:endParaRPr>
          </a:p>
        </p:txBody>
      </p:sp>
      <p:sp>
        <p:nvSpPr>
          <p:cNvPr id="64" name="Text 36">
            <a:extLst>
              <a:ext uri="{FF2B5EF4-FFF2-40B4-BE49-F238E27FC236}">
                <a16:creationId xmlns:a16="http://schemas.microsoft.com/office/drawing/2014/main" id="{1142E393-9728-EDD3-75D5-34543F0EAAC2}"/>
              </a:ext>
            </a:extLst>
          </p:cNvPr>
          <p:cNvSpPr txBox="1"/>
          <p:nvPr/>
        </p:nvSpPr>
        <p:spPr>
          <a:xfrm>
            <a:off x="8382305" y="5862043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단계에서만 손실 함수 가중치</a:t>
            </a:r>
            <a:r>
              <a:rPr lang="en-US" altLang="ko-KR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(Scale Pos Weight) </a:t>
            </a:r>
            <a:r>
              <a:rPr lang="ko-KR" alt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조절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974"/>
    </mc:Choice>
    <mc:Fallback xmlns="">
      <p:transition spd="slow" advTm="17197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1047902"/>
            <a:ext cx="6687007" cy="5257800"/>
          </a:xfrm>
          <a:prstGeom prst="roundRect">
            <a:avLst>
              <a:gd name="adj" fmla="val 504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39305" y="1047902"/>
            <a:ext cx="4591202" cy="5257800"/>
          </a:xfrm>
          <a:prstGeom prst="roundRect">
            <a:avLst>
              <a:gd name="adj" fmla="val 661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429500" y="1714500"/>
            <a:ext cx="4209898" cy="182880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429500" y="3715207"/>
            <a:ext cx="4209898" cy="1352398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429500" y="5238598"/>
            <a:ext cx="4209898" cy="875995"/>
          </a:xfrm>
          <a:prstGeom prst="roundRect">
            <a:avLst>
              <a:gd name="adj" fmla="val 13615"/>
            </a:avLst>
          </a:prstGeom>
          <a:solidFill>
            <a:srgbClr val="EBF8FF"/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81305" y="190195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Part5. 데이터 구성: 8대 패턴과 스키마</a:t>
            </a:r>
            <a:endParaRPr lang="en-US" sz="2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586130" y="1314907"/>
            <a:ext cx="256946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52805" y="1238098"/>
            <a:ext cx="5829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 세탁의 8대 핵심 구조적 </a:t>
            </a:r>
            <a:r>
              <a:rPr lang="en-US" sz="16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(patterns.txt)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580272"/>
              </p:ext>
            </p:extLst>
          </p:nvPr>
        </p:nvGraphicFramePr>
        <p:xfrm>
          <a:off x="571500" y="1714500"/>
          <a:ext cx="6286500" cy="4315050"/>
        </p:xfrm>
        <a:graphic>
          <a:graphicData uri="http://schemas.openxmlformats.org/drawingml/2006/table">
            <a:tbl>
              <a:tblPr/>
              <a:tblGrid>
                <a:gridCol w="1382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3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패턴명 (Type)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3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구조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3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AML 단계 및 비즈니스 의미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STACK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직선 이동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530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Layering </a:t>
                      </a:r>
                      <a:r>
                        <a:rPr lang="en-US" sz="1050" dirty="0" err="1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여러</a:t>
                      </a: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계좌를 거쳐 자금 출처를 숨김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CYCLE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순환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530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Self-laundering  </a:t>
                      </a:r>
                      <a:r>
                        <a:rPr lang="en-US" sz="1050" dirty="0" err="1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자금이</a:t>
                      </a: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여러 경로를 거쳐 원래 계좌로 돌아옴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FAN-OUT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674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Placement </a:t>
                      </a: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계좌에서 다수 계좌로 소액 분산 (Smurfing)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FAN-IN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562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Integration </a:t>
                      </a:r>
                      <a:r>
                        <a:rPr lang="en-US" sz="1050" dirty="0" err="1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다수</a:t>
                      </a: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계좌에서 하나의 계좌로 분산 자금 재집중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GATHER-SCATTER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모았다가 분산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530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Layering </a:t>
                      </a:r>
                      <a:r>
                        <a:rPr lang="en-US" sz="1050" dirty="0" err="1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자금을</a:t>
                      </a: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일시 수집 후 다른 다수에게 재분산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SCATTER-GATHER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분산 후 수렴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530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Layering </a:t>
                      </a:r>
                      <a:r>
                        <a:rPr lang="en-US" sz="1050" dirty="0" err="1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자금을</a:t>
                      </a: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쪼개서 분산시킨 후 다시 수렴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BIPARTITE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조직 간 이동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B2C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Organized ML </a:t>
                      </a: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두 집단(송금조직-수취조직) 간 단방향 거래망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9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RANDOM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무작위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Obfuscation </a:t>
                      </a:r>
                      <a:r>
                        <a:rPr lang="en-US" sz="1050" dirty="0" err="1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정형화된</a:t>
                      </a:r>
                      <a:r>
                        <a:rPr lang="en-US" sz="105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패턴 탐지를 회피하기 위한 난독화 구조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472477" y="1314907"/>
            <a:ext cx="200254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810805" y="1238098"/>
            <a:ext cx="4000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데이터 스키마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848295" y="1857146"/>
            <a:ext cx="3696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엣지(Edge) 단위: 거래 속성 </a:t>
            </a: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(trans.csv)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9695" y="1904695"/>
            <a:ext cx="152705" cy="152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19695" y="2190902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Timestamp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거래 발생 시점 (시계열)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7619695" y="2457907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From/To Account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송금 및 입금 계좌 ID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7619695" y="2723998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Amount / Currency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거래 금액 및 지불 통화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7619695" y="2991002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Payment Format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결제 수단 (ACH, Wire 등)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7619695" y="3258007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 Laundering  </a:t>
            </a:r>
            <a:r>
              <a:rPr lang="en-US" sz="1000" b="1" dirty="0" err="1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</a:t>
            </a:r>
            <a:r>
              <a:rPr lang="en-US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b="1" dirty="0" err="1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세탁</a:t>
            </a:r>
            <a:r>
              <a:rPr lang="en-US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b="1" dirty="0" err="1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여부</a:t>
            </a:r>
            <a:r>
              <a:rPr lang="en-US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(Edge Label) </a:t>
            </a:r>
            <a:r>
              <a:rPr lang="en-US" sz="1000" b="1" dirty="0">
                <a:solidFill>
                  <a:srgbClr val="535E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</a:t>
            </a:r>
            <a:r>
              <a:rPr lang="en-US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0: </a:t>
            </a:r>
            <a:r>
              <a:rPr lang="ko-KR" altLang="en-US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r>
              <a:rPr lang="en-US" altLang="ko-KR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1: </a:t>
            </a:r>
            <a:r>
              <a:rPr lang="ko-KR" altLang="en-US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 세탁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7848295" y="3857854"/>
            <a:ext cx="3696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노드(Node) 단위: 계좌 속성 </a:t>
            </a: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(accounts.csv)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9695" y="3905402"/>
            <a:ext cx="152705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619695" y="4190695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Number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계좌 노드의 핵심 식별자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7619695" y="4457700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Bank Name / ID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계좌 소속 은행 및 국가 정보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7619695" y="4724705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Entity ID / Name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사람 또는 법인 소유 주체 파악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7839151" y="5381244"/>
            <a:ext cx="37051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전역 정규화 (Currency_Rate.csv)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619695" y="5629046"/>
            <a:ext cx="38862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15개국 통화 및 Bitcoin(가상자산) </a:t>
            </a:r>
            <a:r>
              <a:rPr lang="en-US" sz="9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거래액을</a:t>
            </a:r>
            <a:r>
              <a:rPr lang="en-US" sz="9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시점의 </a:t>
            </a:r>
            <a:r>
              <a:rPr lang="en-US" sz="9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USD(달러) </a:t>
            </a:r>
            <a:r>
              <a:rPr lang="en-US" sz="9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기준으로</a:t>
            </a:r>
            <a:r>
              <a:rPr lang="en-US" sz="9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9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9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일괄</a:t>
            </a:r>
            <a:r>
              <a:rPr lang="en-US" sz="9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환산</a:t>
            </a:r>
            <a:r>
              <a:rPr lang="en-US" sz="9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통일된 네트워크 가중치(Weight) 구성</a:t>
            </a:r>
            <a:endParaRPr lang="en-US" sz="9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9695" y="5418734"/>
            <a:ext cx="142646" cy="14264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67005" y="6505726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32" name="Image 1">
            <a:extLst>
              <a:ext uri="{FF2B5EF4-FFF2-40B4-BE49-F238E27FC236}">
                <a16:creationId xmlns:a16="http://schemas.microsoft.com/office/drawing/2014/main" id="{18E9D92A-1BDA-457E-2E39-06C58A695D3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34" name="TextBox 7">
            <a:extLst>
              <a:ext uri="{FF2B5EF4-FFF2-40B4-BE49-F238E27FC236}">
                <a16:creationId xmlns:a16="http://schemas.microsoft.com/office/drawing/2014/main" id="{5B0EA718-0323-F23D-386C-8B36E0289A7E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388"/>
    </mc:Choice>
    <mc:Fallback xmlns="">
      <p:transition spd="slow" advTm="8338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1047902"/>
            <a:ext cx="5544007" cy="4019702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1047902"/>
            <a:ext cx="5734202" cy="4019702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81305" y="5128303"/>
            <a:ext cx="11487607" cy="1409780"/>
          </a:xfrm>
          <a:prstGeom prst="roundRect">
            <a:avLst>
              <a:gd name="adj" fmla="val 6346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81305" y="5224084"/>
            <a:ext cx="57607" cy="1196374"/>
          </a:xfrm>
          <a:prstGeom prst="roundRect">
            <a:avLst>
              <a:gd name="adj" fmla="val 115441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305" y="190195"/>
            <a:ext cx="7734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Part6. 주요 EDA: 패턴 분포와 시계열 변화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1238098"/>
            <a:ext cx="5257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 세탁</a:t>
            </a: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거래(Label=1) 내 패턴 분포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5" b="-5"/>
          <a:stretch/>
        </p:blipFill>
        <p:spPr>
          <a:xfrm>
            <a:off x="571500" y="1619402"/>
            <a:ext cx="5143500" cy="32388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286500" y="1238098"/>
            <a:ext cx="5448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vs Test 데이터 분할(Split)별 변화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6286500" y="1619402"/>
            <a:ext cx="5333695" cy="3238805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629107" y="5265566"/>
            <a:ext cx="171907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23777" y="5279847"/>
            <a:ext cx="1505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 주요 시사점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39926" y="5668591"/>
            <a:ext cx="5315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비정형(NONE) 35.4%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룰 기반 정의가 불가한 거래가 대다수. </a:t>
            </a:r>
            <a:b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</a:t>
            </a: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(GNN) 기반 잠재 특징 추출이 필수적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임.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368719" y="5247680"/>
            <a:ext cx="53538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GATHER-SCATTER의 Test 데이터 내 급증 (6.5%→20.5%)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368719" y="5466453"/>
            <a:ext cx="5315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범죄 수법은 시간에 따라 진화/이동함. </a:t>
            </a:r>
            <a:b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과거 패턴에 과적합되지 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않는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강건한</a:t>
            </a: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일반화 모델 구축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필요.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67005" y="6625167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21" name="Image 1">
            <a:extLst>
              <a:ext uri="{FF2B5EF4-FFF2-40B4-BE49-F238E27FC236}">
                <a16:creationId xmlns:a16="http://schemas.microsoft.com/office/drawing/2014/main" id="{43EE953E-B2CB-8C13-D16B-1289DD4B7F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16454B02-30C7-2229-CD45-92EFABB44F55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B02A69F8-D8CA-9C1A-4197-BA3DC3FF208F}"/>
              </a:ext>
            </a:extLst>
          </p:cNvPr>
          <p:cNvSpPr txBox="1"/>
          <p:nvPr/>
        </p:nvSpPr>
        <p:spPr>
          <a:xfrm>
            <a:off x="6387921" y="5966995"/>
            <a:ext cx="5315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STACK(11.3%)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SCATTER-GATHER(11.3%)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같은 구조적 범죄는 </a:t>
            </a:r>
            <a:b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구간에 걸쳐 일정하게 발생하여 탐지 모델의 고정적인 베이스라인이 됨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257"/>
    </mc:Choice>
    <mc:Fallback xmlns="">
      <p:transition spd="slow" advTm="9725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81305" y="3827089"/>
            <a:ext cx="4591202" cy="2593313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81305" y="3827090"/>
            <a:ext cx="4591202" cy="38405"/>
          </a:xfrm>
          <a:prstGeom prst="roundRect">
            <a:avLst>
              <a:gd name="adj" fmla="val 195359"/>
            </a:avLst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143500" y="1809598"/>
            <a:ext cx="6687007" cy="4600346"/>
          </a:xfrm>
          <a:prstGeom prst="roundRect">
            <a:avLst>
              <a:gd name="adj" fmla="val 689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29707" y="5238598"/>
            <a:ext cx="6115507" cy="828446"/>
          </a:xfrm>
          <a:prstGeom prst="roundRect">
            <a:avLst>
              <a:gd name="adj" fmla="val 15224"/>
            </a:avLst>
          </a:prstGeom>
          <a:solidFill>
            <a:srgbClr val="F7FAFC"/>
          </a:solidFill>
          <a:ln w="127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81305" y="190195"/>
            <a:ext cx="7734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Part7. 실험① 베이스라인 머신러닝 (</a:t>
            </a:r>
            <a:r>
              <a:rPr lang="en-US" sz="21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2100" dirty="0"/>
          </a:p>
        </p:txBody>
      </p:sp>
      <p:sp>
        <p:nvSpPr>
          <p:cNvPr id="27" name="Text 22"/>
          <p:cNvSpPr txBox="1"/>
          <p:nvPr/>
        </p:nvSpPr>
        <p:spPr>
          <a:xfrm>
            <a:off x="625475" y="4089856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중요도: 정탐(TP)과 미탐(FN)의 경계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19049" y="4558249"/>
            <a:ext cx="42199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 단서 (TP):</a:t>
            </a: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</a:t>
            </a:r>
            <a:r>
              <a:rPr lang="en-US" sz="11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1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IsCrossBorder</a:t>
            </a: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비중 95.8%,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      ACH 대액 결제(평균 $316만)는 정확히 탐지함. 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619049" y="5125743"/>
            <a:ext cx="42199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실패 (FN):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국내 수신 위주의 비-ACH 소액 분산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패턴은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   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우선순위에서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밀려 식별하지 못함. 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71500" y="5817527"/>
            <a:ext cx="4190695" cy="342900"/>
          </a:xfrm>
          <a:prstGeom prst="roundRect">
            <a:avLst>
              <a:gd name="adj" fmla="val 59259"/>
            </a:avLst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552298" y="5906301"/>
            <a:ext cx="4229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53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모델은 '대규모 국제 세탁'에만 편향되어 있음</a:t>
            </a:r>
            <a:endParaRPr lang="en-US" sz="10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67198" y="2085746"/>
            <a:ext cx="209398" cy="209398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5810098" y="2048256"/>
            <a:ext cx="5829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 패턴별 검출률 (Recall) 분석</a:t>
            </a:r>
            <a:endParaRPr lang="en-US" sz="15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5429707" y="2476195"/>
            <a:ext cx="6096305" cy="257220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752113" y="5543025"/>
            <a:ext cx="57918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피처로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잡기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힘</a:t>
            </a:r>
            <a:r>
              <a:rPr lang="ko-KR" alt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 것이라고 예상했던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35.4%의 </a:t>
            </a:r>
            <a:r>
              <a:rPr lang="en-US" sz="1000" b="1" dirty="0" err="1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</a:t>
            </a:r>
            <a:r>
              <a:rPr lang="en-US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(NONE) </a:t>
            </a:r>
            <a:r>
              <a:rPr lang="en-US" sz="1000" b="1" dirty="0" err="1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r>
              <a:rPr lang="ko-KR" alt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전혀 잡지 못하고 있으며</a:t>
            </a:r>
            <a:r>
              <a:rPr lang="en-US" altLang="ko-KR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br>
              <a:rPr lang="en-US" altLang="ko-KR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8</a:t>
            </a:r>
            <a:r>
              <a:rPr lang="ko-KR" alt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가지 패턴은 </a:t>
            </a:r>
            <a:r>
              <a:rPr lang="en-US" altLang="ko-KR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30~40% </a:t>
            </a:r>
            <a:r>
              <a:rPr lang="ko-KR" alt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사이로</a:t>
            </a:r>
            <a:r>
              <a:rPr lang="en-US" altLang="ko-KR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 test </a:t>
            </a:r>
            <a:r>
              <a:rPr lang="en-US" altLang="ko-KR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auprc</a:t>
            </a:r>
            <a:r>
              <a:rPr lang="ko-KR" alt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</a:t>
            </a:r>
            <a:r>
              <a:rPr lang="en-US" altLang="ko-KR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</a:t>
            </a:r>
            <a:r>
              <a:rPr lang="ko-KR" alt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넘겼어도</a:t>
            </a:r>
            <a:r>
              <a:rPr lang="en-US" altLang="ko-KR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패턴은 절반도 탐지해내지 못하고 있음</a:t>
            </a:r>
            <a:r>
              <a:rPr lang="en-US" altLang="ko-KR" sz="1000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267005" y="6549265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39" name="Image 1">
            <a:extLst>
              <a:ext uri="{FF2B5EF4-FFF2-40B4-BE49-F238E27FC236}">
                <a16:creationId xmlns:a16="http://schemas.microsoft.com/office/drawing/2014/main" id="{F5AFD125-7F19-BD60-4AF5-BC741347E3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41" name="TextBox 7">
            <a:extLst>
              <a:ext uri="{FF2B5EF4-FFF2-40B4-BE49-F238E27FC236}">
                <a16:creationId xmlns:a16="http://schemas.microsoft.com/office/drawing/2014/main" id="{209B946D-6532-EDDC-ABBF-8AA7D86C9B62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8734285B-98FD-DE84-9525-B06149AE13E1}"/>
              </a:ext>
            </a:extLst>
          </p:cNvPr>
          <p:cNvSpPr/>
          <p:nvPr/>
        </p:nvSpPr>
        <p:spPr>
          <a:xfrm>
            <a:off x="381305" y="910894"/>
            <a:ext cx="11449202" cy="780898"/>
          </a:xfrm>
          <a:prstGeom prst="roundRect">
            <a:avLst>
              <a:gd name="adj" fmla="val 22848"/>
            </a:avLst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B1882370-A183-7660-3159-EDBBCD0245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81" b="-181"/>
          <a:stretch/>
        </p:blipFill>
        <p:spPr>
          <a:xfrm>
            <a:off x="381305" y="910894"/>
            <a:ext cx="75895" cy="761695"/>
          </a:xfrm>
          <a:prstGeom prst="rect">
            <a:avLst/>
          </a:prstGeom>
        </p:spPr>
      </p:pic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F2DC8BBE-B30D-0F6C-3B06-10956C70EDB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100" b="-2100"/>
          <a:stretch/>
        </p:blipFill>
        <p:spPr>
          <a:xfrm>
            <a:off x="3238805" y="1054455"/>
            <a:ext cx="9144" cy="476402"/>
          </a:xfrm>
          <a:prstGeom prst="rect">
            <a:avLst/>
          </a:prstGeom>
        </p:spPr>
      </p:pic>
      <p:pic>
        <p:nvPicPr>
          <p:cNvPr id="45" name="Image 2" descr="preencoded.png">
            <a:extLst>
              <a:ext uri="{FF2B5EF4-FFF2-40B4-BE49-F238E27FC236}">
                <a16:creationId xmlns:a16="http://schemas.microsoft.com/office/drawing/2014/main" id="{A7D30BE2-CAB7-DD9A-2A0A-0EF1D6D6017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100" b="-2100"/>
          <a:stretch/>
        </p:blipFill>
        <p:spPr>
          <a:xfrm>
            <a:off x="6096305" y="1054455"/>
            <a:ext cx="9144" cy="476402"/>
          </a:xfrm>
          <a:prstGeom prst="rect">
            <a:avLst/>
          </a:prstGeom>
        </p:spPr>
      </p:pic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A8C562B4-921A-1690-C53A-5A4875D280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100" b="-2100"/>
          <a:stretch/>
        </p:blipFill>
        <p:spPr>
          <a:xfrm>
            <a:off x="8953805" y="1054455"/>
            <a:ext cx="9144" cy="476402"/>
          </a:xfrm>
          <a:prstGeom prst="rect">
            <a:avLst/>
          </a:prstGeom>
        </p:spPr>
      </p:pic>
      <p:sp>
        <p:nvSpPr>
          <p:cNvPr id="47" name="Text 12">
            <a:extLst>
              <a:ext uri="{FF2B5EF4-FFF2-40B4-BE49-F238E27FC236}">
                <a16:creationId xmlns:a16="http://schemas.microsoft.com/office/drawing/2014/main" id="{6FD89080-BCED-37D7-E361-15BB28D4A535}"/>
              </a:ext>
            </a:extLst>
          </p:cNvPr>
          <p:cNvSpPr txBox="1"/>
          <p:nvPr/>
        </p:nvSpPr>
        <p:spPr>
          <a:xfrm>
            <a:off x="666598" y="1054455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AUPRC</a:t>
            </a:r>
            <a:endParaRPr lang="en-US" sz="10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72349030-8972-DC52-1A74-F98E37CBB703}"/>
              </a:ext>
            </a:extLst>
          </p:cNvPr>
          <p:cNvSpPr txBox="1"/>
          <p:nvPr/>
        </p:nvSpPr>
        <p:spPr>
          <a:xfrm>
            <a:off x="666598" y="1263853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0.603</a:t>
            </a:r>
            <a:endParaRPr lang="en-US" sz="2100" dirty="0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1918CDDB-E4D1-5227-7311-DA8AA6753F04}"/>
              </a:ext>
            </a:extLst>
          </p:cNvPr>
          <p:cNvSpPr txBox="1"/>
          <p:nvPr/>
        </p:nvSpPr>
        <p:spPr>
          <a:xfrm>
            <a:off x="3524098" y="1054455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Precision</a:t>
            </a:r>
            <a:endParaRPr lang="en-US" sz="100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FBA87835-F1F1-3BC4-009C-52977AE93A3F}"/>
              </a:ext>
            </a:extLst>
          </p:cNvPr>
          <p:cNvSpPr txBox="1"/>
          <p:nvPr/>
        </p:nvSpPr>
        <p:spPr>
          <a:xfrm>
            <a:off x="3524098" y="1263853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0.983</a:t>
            </a:r>
            <a:endParaRPr lang="en-US" sz="21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DCCF8EF3-B055-1082-E461-58AA41710E3A}"/>
              </a:ext>
            </a:extLst>
          </p:cNvPr>
          <p:cNvSpPr txBox="1"/>
          <p:nvPr/>
        </p:nvSpPr>
        <p:spPr>
          <a:xfrm>
            <a:off x="6381598" y="1054455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Recall</a:t>
            </a:r>
            <a:endParaRPr lang="en-US" sz="1000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0D636025-2CE0-C0D3-D6B4-157A0DCE1222}"/>
              </a:ext>
            </a:extLst>
          </p:cNvPr>
          <p:cNvSpPr txBox="1"/>
          <p:nvPr/>
        </p:nvSpPr>
        <p:spPr>
          <a:xfrm>
            <a:off x="6381598" y="1263853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0.233</a:t>
            </a:r>
            <a:endParaRPr lang="en-US" sz="21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BD10CBB1-B264-075F-A62F-336F91B9413D}"/>
              </a:ext>
            </a:extLst>
          </p:cNvPr>
          <p:cNvSpPr txBox="1"/>
          <p:nvPr/>
        </p:nvSpPr>
        <p:spPr>
          <a:xfrm>
            <a:off x="9239098" y="1054455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F1-Score</a:t>
            </a:r>
            <a:endParaRPr lang="en-US" sz="1000" dirty="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FE96818C-D9F5-C314-F8C5-92327A9F42A0}"/>
              </a:ext>
            </a:extLst>
          </p:cNvPr>
          <p:cNvSpPr txBox="1"/>
          <p:nvPr/>
        </p:nvSpPr>
        <p:spPr>
          <a:xfrm>
            <a:off x="9239098" y="1263853"/>
            <a:ext cx="1981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0.377</a:t>
            </a:r>
            <a:endParaRPr lang="en-US" sz="2100" dirty="0"/>
          </a:p>
        </p:txBody>
      </p:sp>
      <p:sp>
        <p:nvSpPr>
          <p:cNvPr id="5" name="Text 22">
            <a:extLst>
              <a:ext uri="{FF2B5EF4-FFF2-40B4-BE49-F238E27FC236}">
                <a16:creationId xmlns:a16="http://schemas.microsoft.com/office/drawing/2014/main" id="{7B6EB97C-AAB6-C478-24CD-E98464403119}"/>
              </a:ext>
            </a:extLst>
          </p:cNvPr>
          <p:cNvSpPr txBox="1"/>
          <p:nvPr/>
        </p:nvSpPr>
        <p:spPr>
          <a:xfrm>
            <a:off x="645884" y="2109864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</a:t>
            </a: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엔지니어링</a:t>
            </a:r>
            <a:r>
              <a:rPr lang="en-US" altLang="ko-KR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altLang="ko-KR" sz="13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</a:t>
            </a:r>
            <a:r>
              <a:rPr lang="ko-KR" altLang="en-US" sz="13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</a:t>
            </a:r>
            <a:r>
              <a:rPr lang="en-US" altLang="ko-KR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Text 23">
            <a:extLst>
              <a:ext uri="{FF2B5EF4-FFF2-40B4-BE49-F238E27FC236}">
                <a16:creationId xmlns:a16="http://schemas.microsoft.com/office/drawing/2014/main" id="{DB2CC05B-4FC5-A672-01EE-842DCE349548}"/>
              </a:ext>
            </a:extLst>
          </p:cNvPr>
          <p:cNvSpPr txBox="1"/>
          <p:nvPr/>
        </p:nvSpPr>
        <p:spPr>
          <a:xfrm>
            <a:off x="645884" y="2577514"/>
            <a:ext cx="42199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관련 </a:t>
            </a:r>
            <a:r>
              <a:rPr lang="en-US" altLang="ko-KR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r>
              <a:rPr lang="ko-KR" alt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</a:t>
            </a:r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</a:t>
            </a:r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파생 </a:t>
            </a:r>
            <a:r>
              <a:rPr lang="en-US" altLang="ko-KR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r>
              <a:rPr lang="ko-KR" alt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 </a:t>
            </a:r>
            <a:r>
              <a:rPr lang="en-US" altLang="ko-KR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</a:t>
            </a:r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금액 파생 </a:t>
            </a:r>
            <a:r>
              <a:rPr lang="en-US" altLang="ko-KR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r>
              <a:rPr lang="ko-KR" alt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</a:t>
            </a:r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</a:t>
            </a:r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은행 위험 점수 </a:t>
            </a:r>
            <a:r>
              <a:rPr lang="en-US" altLang="ko-KR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</a:t>
            </a:r>
            <a:br>
              <a:rPr lang="en-US" altLang="ko-KR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</a:t>
            </a:r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지불 방식 </a:t>
            </a:r>
            <a:r>
              <a:rPr lang="ko-KR" altLang="en-US" sz="11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원핫</a:t>
            </a:r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</a:t>
            </a:r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파생 </a:t>
            </a:r>
            <a:r>
              <a:rPr lang="en-US" altLang="ko-KR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r>
              <a:rPr lang="ko-KR" alt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 </a:t>
            </a:r>
            <a:r>
              <a:rPr lang="en-US" altLang="ko-KR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</a:t>
            </a:r>
            <a:r>
              <a:rPr lang="ko-KR" altLang="en-US" sz="11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계좌주</a:t>
            </a:r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타입 파싱 </a:t>
            </a:r>
            <a:r>
              <a:rPr lang="en-US" altLang="ko-KR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</a:t>
            </a:r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</a:t>
            </a:r>
            <a:r>
              <a:rPr lang="en-US" altLang="ko-KR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r>
              <a:rPr lang="ko-KR" alt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</a:t>
            </a:r>
          </a:p>
        </p:txBody>
      </p:sp>
      <p:sp>
        <p:nvSpPr>
          <p:cNvPr id="7" name="Text 23">
            <a:extLst>
              <a:ext uri="{FF2B5EF4-FFF2-40B4-BE49-F238E27FC236}">
                <a16:creationId xmlns:a16="http://schemas.microsoft.com/office/drawing/2014/main" id="{69B86614-AF39-3AD3-1761-FBD8128682AB}"/>
              </a:ext>
            </a:extLst>
          </p:cNvPr>
          <p:cNvSpPr txBox="1"/>
          <p:nvPr/>
        </p:nvSpPr>
        <p:spPr>
          <a:xfrm>
            <a:off x="660398" y="3104993"/>
            <a:ext cx="4219956" cy="70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관련 피처</a:t>
            </a:r>
            <a:r>
              <a:rPr lang="en-US" altLang="ko-KR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국가별 상이한 규제 시스템을 이용한 자금 이동 추적</a:t>
            </a:r>
            <a:b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   FATF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회원국 정보로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자금세탁방지기구 미가입국 등 </a:t>
            </a:r>
            <a:b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  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고위험 국가와의 연결성 피처화</a:t>
            </a:r>
          </a:p>
          <a:p>
            <a:endParaRPr lang="ko-KR" altLang="en-US" sz="1100" b="1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554"/>
    </mc:Choice>
    <mc:Fallback xmlns="">
      <p:transition spd="slow" advTm="5655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1801598"/>
            <a:ext cx="3638398" cy="4109640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90695" y="1801597"/>
            <a:ext cx="7638898" cy="4109641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571500" y="2325548"/>
            <a:ext cx="3238805" cy="91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81305" y="190195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Part8. 실험② ML + Graph Feature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381305" y="1137485"/>
            <a:ext cx="11621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중심성 지표와 16대 탐지 모듈을 통한 자금세탁 구조의 정량화 및 성능 검증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576072" y="2010995"/>
            <a:ext cx="219456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05256" y="199179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계좌 </a:t>
            </a:r>
            <a:r>
              <a:rPr lang="ko-KR" altLang="en-US" sz="1300" b="1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중심성</a:t>
            </a:r>
            <a:r>
              <a:rPr lang="ko-KR" alt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지표</a:t>
            </a:r>
            <a:r>
              <a:rPr lang="en-US" altLang="ko-KR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(Centrality)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716643" y="2613338"/>
            <a:ext cx="33531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연결 중심성 (Degree)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716643" y="2910052"/>
            <a:ext cx="3429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</a:rPr>
              <a:t>특정 계좌가 다른 계좌와 직접적으로 연결된 정도</a:t>
            </a:r>
            <a:endParaRPr lang="en-US" altLang="ko-KR" sz="900" b="1" dirty="0">
              <a:solidFill>
                <a:srgbClr val="4A5568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buNone/>
            </a:pPr>
            <a:r>
              <a:rPr lang="ko-KR" alt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</a:rPr>
              <a:t>다른 계좌들과 빈번하게 이체 거래를 수행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716643" y="3388039"/>
            <a:ext cx="33531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매개 중심성 (Betweenness)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716643" y="3626697"/>
            <a:ext cx="3429000" cy="317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계좌가 다른 계좌들 사이의 최단 경로 상에 위치하는 빈도</a:t>
            </a:r>
            <a:endParaRPr lang="en-US" sz="900" b="1" dirty="0">
              <a:solidFill>
                <a:srgbClr val="4A556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ko-KR" alt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</a:rPr>
              <a:t>서로 직접 연결되지 않은 계좌 사이의 거래를 중개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716643" y="4162736"/>
            <a:ext cx="33531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근접 중심성 (Closeness)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716643" y="4401394"/>
            <a:ext cx="3429000" cy="317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계좌와 네트워크 내 모든 계좌와의 평균 거리</a:t>
            </a:r>
            <a:endParaRPr lang="en-US" altLang="ko-KR" sz="900" b="1" dirty="0">
              <a:solidFill>
                <a:srgbClr val="4A556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ko-KR" alt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</a:rPr>
              <a:t>소수의 단계를 거쳐 다수의 계좌와 신속하게 거래 가능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716643" y="4951954"/>
            <a:ext cx="33531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이웃 위험도 전파 (Neighbor Risk)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716643" y="5190612"/>
            <a:ext cx="3314700" cy="432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계좌와 연결된 경우 잠재 </a:t>
            </a:r>
            <a:r>
              <a:rPr lang="en-US" sz="9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위험도</a:t>
            </a: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상승</a:t>
            </a:r>
            <a:b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altLang="ko-KR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CS224W </a:t>
            </a:r>
            <a:r>
              <a:rPr lang="ko-KR" alt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강의의 핵심 개념인 </a:t>
            </a:r>
            <a:r>
              <a:rPr lang="en-US" sz="9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호모필리</a:t>
            </a: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원리 적용, GPU 가속 </a:t>
            </a:r>
            <a:r>
              <a:rPr lang="en-US" sz="9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연산</a:t>
            </a: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</a:p>
          <a:p>
            <a:r>
              <a:rPr lang="ko-KR" altLang="en-US" sz="900" b="1" dirty="0"/>
              <a:t>최신 </a:t>
            </a:r>
            <a:r>
              <a:rPr lang="en-US" altLang="ko-KR" sz="900" b="1" dirty="0"/>
              <a:t>GNN </a:t>
            </a:r>
            <a:r>
              <a:rPr lang="ko-KR" altLang="en-US" sz="900" b="1" dirty="0"/>
              <a:t>방법론의 전 단계</a:t>
            </a:r>
            <a:r>
              <a:rPr lang="en-US" altLang="ko-KR" sz="900" b="1" dirty="0"/>
              <a:t>(Pre-GNN) </a:t>
            </a:r>
            <a:r>
              <a:rPr lang="ko-KR" altLang="en-US" sz="900" b="1" dirty="0"/>
              <a:t>기술을 적용</a:t>
            </a:r>
            <a:endParaRPr lang="en-US" sz="900" b="1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4386377" y="2010995"/>
            <a:ext cx="219456" cy="19019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714646" y="1991792"/>
            <a:ext cx="528066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자금세탁 단계별 16대 핵심 탐지 모듈 (NeurIPS 2023 기반)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146636"/>
              </p:ext>
            </p:extLst>
          </p:nvPr>
        </p:nvGraphicFramePr>
        <p:xfrm>
          <a:off x="4496105" y="2543687"/>
          <a:ext cx="6719784" cy="3123635"/>
        </p:xfrm>
        <a:graphic>
          <a:graphicData uri="http://schemas.openxmlformats.org/drawingml/2006/table">
            <a:tbl>
              <a:tblPr/>
              <a:tblGrid>
                <a:gridCol w="1008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7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0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A3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AML 단계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A3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탐지 수법 및 모듈 의미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A3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생성 피처 (Features)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4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674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Placement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7180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자금 배치</a:t>
                      </a:r>
                      <a:endParaRPr lang="en-US" sz="1200" dirty="0"/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봇/폭발 거래 (M1)</a:t>
                      </a:r>
                      <a:r>
                        <a:rPr lang="en-US" sz="97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: 기계적 반복 및 급증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쪼개기/Structuring (M2)</a:t>
                      </a:r>
                      <a:r>
                        <a:rPr lang="en-US" sz="97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: 규제 임계값 회피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자금 집중도/HHI (M3)</a:t>
                      </a:r>
                      <a:r>
                        <a:rPr lang="en-US" sz="97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: 대포통장 수집 </a:t>
                      </a:r>
                      <a:endParaRPr lang="en-US" sz="1200" dirty="0"/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avg_tx_interval</a:t>
                      </a:r>
                      <a:r>
                        <a:rPr lang="en-US" sz="1200" dirty="0">
                          <a:solidFill>
                            <a:srgbClr val="4A5568"/>
                          </a:solidFill>
                          <a:latin typeface="+mj-lt"/>
                          <a:ea typeface="Noto Sans KR" pitchFamily="34" charset="-122"/>
                          <a:cs typeface="Noto Sans KR" pitchFamily="34" charset="-120"/>
                        </a:rPr>
                        <a:t>, </a:t>
                      </a: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dow_entropy</a:t>
                      </a:r>
                      <a:endParaRPr lang="en-US" sz="1200" dirty="0">
                        <a:latin typeface="+mj-lt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below_threshold_ratio</a:t>
                      </a:r>
                      <a:endParaRPr lang="en-US" sz="1200" dirty="0">
                        <a:latin typeface="+mj-lt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sender_hhi</a:t>
                      </a:r>
                      <a:r>
                        <a:rPr lang="en-US" sz="1200" dirty="0">
                          <a:solidFill>
                            <a:srgbClr val="4A5568"/>
                          </a:solidFill>
                          <a:latin typeface="+mj-lt"/>
                          <a:ea typeface="Noto Sans KR" pitchFamily="34" charset="-122"/>
                          <a:cs typeface="Noto Sans KR" pitchFamily="34" charset="-120"/>
                        </a:rPr>
                        <a:t>, </a:t>
                      </a: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receiver_hhi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4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530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Layering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7180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자금 은닉</a:t>
                      </a:r>
                      <a:endParaRPr lang="en-US" sz="1200" dirty="0"/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왕복/순환 거래 (M4/10)</a:t>
                      </a:r>
                      <a:r>
                        <a:rPr lang="en-US" sz="97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: 자금 되돌려받기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통과 계좌/Mule (M6/9)</a:t>
                      </a:r>
                      <a:r>
                        <a:rPr lang="en-US" sz="97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: 즉시 이체 중간책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국경/다중은행 (M8/12)</a:t>
                      </a:r>
                      <a:r>
                        <a:rPr lang="en-US" sz="97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: 추적 단절 </a:t>
                      </a:r>
                      <a:endParaRPr lang="en-US" sz="1200" dirty="0"/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cy_cycle_ratio</a:t>
                      </a:r>
                      <a:r>
                        <a:rPr lang="en-US" sz="1200" dirty="0">
                          <a:solidFill>
                            <a:srgbClr val="4A5568"/>
                          </a:solidFill>
                          <a:latin typeface="+mj-lt"/>
                          <a:ea typeface="Noto Sans KR" pitchFamily="34" charset="-122"/>
                          <a:cs typeface="Noto Sans KR" pitchFamily="34" charset="-120"/>
                        </a:rPr>
                        <a:t>, </a:t>
                      </a: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cy_overlap_count</a:t>
                      </a:r>
                      <a:endParaRPr lang="en-US" sz="1200" dirty="0">
                        <a:latin typeface="+mj-lt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passthrough_ratio</a:t>
                      </a:r>
                      <a:r>
                        <a:rPr lang="en-US" sz="1200" dirty="0">
                          <a:solidFill>
                            <a:srgbClr val="4A5568"/>
                          </a:solidFill>
                          <a:latin typeface="+mj-lt"/>
                          <a:ea typeface="Noto Sans KR" pitchFamily="34" charset="-122"/>
                          <a:cs typeface="Noto Sans KR" pitchFamily="34" charset="-120"/>
                        </a:rPr>
                        <a:t>, </a:t>
                      </a: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sg_delay</a:t>
                      </a:r>
                      <a:endParaRPr lang="en-US" sz="1200" dirty="0">
                        <a:latin typeface="+mj-lt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cross_bank_ratio</a:t>
                      </a:r>
                      <a:r>
                        <a:rPr lang="en-US" sz="1200" dirty="0">
                          <a:solidFill>
                            <a:srgbClr val="4A5568"/>
                          </a:solidFill>
                          <a:latin typeface="+mj-lt"/>
                          <a:ea typeface="Noto Sans KR" pitchFamily="34" charset="-122"/>
                          <a:cs typeface="Noto Sans KR" pitchFamily="34" charset="-120"/>
                        </a:rPr>
                        <a:t>, </a:t>
                      </a: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fatf_ratio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0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562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Integration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7180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자금 통합</a:t>
                      </a:r>
                      <a:endParaRPr lang="en-US" sz="1200" dirty="0"/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위장 거래 (M7/14)</a:t>
                      </a:r>
                      <a:r>
                        <a:rPr lang="en-US" sz="97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: 비정상 시간대 대액 결제 (급여 위장 등) </a:t>
                      </a:r>
                      <a:endParaRPr lang="en-US" sz="1200" dirty="0"/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offhour_amt_ratio</a:t>
                      </a:r>
                      <a:endParaRPr lang="en-US" sz="1200" dirty="0">
                        <a:latin typeface="+mj-lt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tr_hour_std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0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Common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7180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 적용</a:t>
                      </a:r>
                      <a:endParaRPr lang="en-US" sz="1200" dirty="0"/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이웃 위험도 전파 (M5/16)</a:t>
                      </a:r>
                      <a:r>
                        <a:rPr lang="en-US" sz="97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: 연관성 리스크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가상화폐/고위험 결제 (M11/13)</a:t>
                      </a:r>
                      <a:r>
                        <a:rPr lang="en-US" sz="97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: 익명성 악용 </a:t>
                      </a:r>
                      <a:endParaRPr lang="en-US" sz="1200" dirty="0"/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mean_neighbor_risk</a:t>
                      </a:r>
                      <a:endParaRPr lang="en-US" sz="1200" dirty="0">
                        <a:latin typeface="+mj-lt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crypto_ratio</a:t>
                      </a:r>
                      <a:r>
                        <a:rPr lang="en-US" sz="1200" dirty="0">
                          <a:solidFill>
                            <a:srgbClr val="4A5568"/>
                          </a:solidFill>
                          <a:latin typeface="+mj-lt"/>
                          <a:ea typeface="Noto Sans KR" pitchFamily="34" charset="-122"/>
                          <a:cs typeface="Noto Sans KR" pitchFamily="34" charset="-120"/>
                        </a:rPr>
                        <a:t>, </a:t>
                      </a:r>
                      <a:r>
                        <a:rPr lang="en-US" sz="1200" dirty="0">
                          <a:solidFill>
                            <a:srgbClr val="C53030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avg_risk_amt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75895" marR="75895" marT="95098" marB="95098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Text 35"/>
          <p:cNvSpPr txBox="1"/>
          <p:nvPr/>
        </p:nvSpPr>
        <p:spPr>
          <a:xfrm>
            <a:off x="267005" y="6476695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47" name="Image 1">
            <a:extLst>
              <a:ext uri="{FF2B5EF4-FFF2-40B4-BE49-F238E27FC236}">
                <a16:creationId xmlns:a16="http://schemas.microsoft.com/office/drawing/2014/main" id="{6E262D0A-8D78-A6AF-D249-0CF1719810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49" name="TextBox 7">
            <a:extLst>
              <a:ext uri="{FF2B5EF4-FFF2-40B4-BE49-F238E27FC236}">
                <a16:creationId xmlns:a16="http://schemas.microsoft.com/office/drawing/2014/main" id="{339A3D62-8F99-B516-AC6B-2652DC5BFCDA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005"/>
    </mc:Choice>
    <mc:Fallback xmlns="">
      <p:transition spd="slow" advTm="10600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F827-069C-2308-3BE8-91444D14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9">
            <a:extLst>
              <a:ext uri="{FF2B5EF4-FFF2-40B4-BE49-F238E27FC236}">
                <a16:creationId xmlns:a16="http://schemas.microsoft.com/office/drawing/2014/main" id="{3C33E8B3-C21F-B989-F4CD-77EE07E05528}"/>
              </a:ext>
            </a:extLst>
          </p:cNvPr>
          <p:cNvSpPr/>
          <p:nvPr/>
        </p:nvSpPr>
        <p:spPr>
          <a:xfrm>
            <a:off x="5143500" y="1809598"/>
            <a:ext cx="6687007" cy="4600346"/>
          </a:xfrm>
          <a:prstGeom prst="roundRect">
            <a:avLst>
              <a:gd name="adj" fmla="val 689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93A50269-392F-7208-DF22-B37C7F1B344E}"/>
              </a:ext>
            </a:extLst>
          </p:cNvPr>
          <p:cNvSpPr/>
          <p:nvPr/>
        </p:nvSpPr>
        <p:spPr>
          <a:xfrm>
            <a:off x="5582107" y="5390998"/>
            <a:ext cx="6115507" cy="828446"/>
          </a:xfrm>
          <a:prstGeom prst="roundRect">
            <a:avLst>
              <a:gd name="adj" fmla="val 15224"/>
            </a:avLst>
          </a:prstGeom>
          <a:solidFill>
            <a:srgbClr val="F7FAFC"/>
          </a:solidFill>
          <a:ln w="127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B662584-879D-FD7D-3FD5-968099F6F49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B21C2E5-FCA8-C759-0CFE-DF2A2E69AE0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4C4659C6-55F4-B742-8532-53DB890CA921}"/>
              </a:ext>
            </a:extLst>
          </p:cNvPr>
          <p:cNvSpPr/>
          <p:nvPr/>
        </p:nvSpPr>
        <p:spPr>
          <a:xfrm>
            <a:off x="5429707" y="5238598"/>
            <a:ext cx="6115507" cy="828446"/>
          </a:xfrm>
          <a:prstGeom prst="roundRect">
            <a:avLst>
              <a:gd name="adj" fmla="val 15224"/>
            </a:avLst>
          </a:prstGeom>
          <a:solidFill>
            <a:srgbClr val="F7FAFC"/>
          </a:solidFill>
          <a:ln w="127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847484-B34A-28EB-267F-CBE6677CF83F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B7E50B2-9F92-C568-3565-C1EE81293F13}"/>
              </a:ext>
            </a:extLst>
          </p:cNvPr>
          <p:cNvSpPr/>
          <p:nvPr/>
        </p:nvSpPr>
        <p:spPr>
          <a:xfrm>
            <a:off x="381305" y="910893"/>
            <a:ext cx="11449202" cy="780898"/>
          </a:xfrm>
          <a:prstGeom prst="roundRect">
            <a:avLst>
              <a:gd name="adj" fmla="val 22848"/>
            </a:avLst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D3AE9F2B-C6F1-833E-A00D-F32C307B31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81" b="-181"/>
          <a:stretch/>
        </p:blipFill>
        <p:spPr>
          <a:xfrm>
            <a:off x="381305" y="910893"/>
            <a:ext cx="75895" cy="761695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6FE5BFCF-7F23-0592-B19B-48F611AA0A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100" b="-2100"/>
          <a:stretch/>
        </p:blipFill>
        <p:spPr>
          <a:xfrm>
            <a:off x="3238805" y="1054454"/>
            <a:ext cx="9144" cy="476402"/>
          </a:xfrm>
          <a:prstGeom prst="rect">
            <a:avLst/>
          </a:prstGeom>
        </p:spPr>
      </p:pic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8D560AF6-82F7-7B58-5BBC-0B5DA578B3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100" b="-2100"/>
          <a:stretch/>
        </p:blipFill>
        <p:spPr>
          <a:xfrm>
            <a:off x="6096305" y="1054454"/>
            <a:ext cx="9144" cy="476402"/>
          </a:xfrm>
          <a:prstGeom prst="rect">
            <a:avLst/>
          </a:prstGeom>
        </p:spPr>
      </p:pic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CFB910ED-9966-A6C5-1939-6EFB1A46B4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100" b="-2100"/>
          <a:stretch/>
        </p:blipFill>
        <p:spPr>
          <a:xfrm>
            <a:off x="8953805" y="1054454"/>
            <a:ext cx="9144" cy="476402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F4A7E5C6-8B19-F312-A0F4-F886D2630636}"/>
              </a:ext>
            </a:extLst>
          </p:cNvPr>
          <p:cNvSpPr txBox="1"/>
          <p:nvPr/>
        </p:nvSpPr>
        <p:spPr>
          <a:xfrm>
            <a:off x="381305" y="190195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Part8. 실험② ML + Graph Feature</a:t>
            </a:r>
            <a:endParaRPr lang="en-US" sz="21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65C0A198-8560-AD95-C97B-E85D2F7BA880}"/>
              </a:ext>
            </a:extLst>
          </p:cNvPr>
          <p:cNvSpPr txBox="1"/>
          <p:nvPr/>
        </p:nvSpPr>
        <p:spPr>
          <a:xfrm>
            <a:off x="666598" y="1054454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AUPRC</a:t>
            </a:r>
            <a:endParaRPr lang="en-US" sz="10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95F2B922-A0FD-0420-DB33-887C755B3D39}"/>
              </a:ext>
            </a:extLst>
          </p:cNvPr>
          <p:cNvSpPr txBox="1"/>
          <p:nvPr/>
        </p:nvSpPr>
        <p:spPr>
          <a:xfrm>
            <a:off x="666598" y="1263852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0.585</a:t>
            </a:r>
            <a:endParaRPr lang="en-US" sz="21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28D05079-02AC-C04A-CED9-9D30325D0911}"/>
              </a:ext>
            </a:extLst>
          </p:cNvPr>
          <p:cNvSpPr txBox="1"/>
          <p:nvPr/>
        </p:nvSpPr>
        <p:spPr>
          <a:xfrm>
            <a:off x="3524098" y="1054454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Precision</a:t>
            </a:r>
            <a:endParaRPr lang="en-US" sz="10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B089D526-41A7-7B27-9C76-82AFEFCFE044}"/>
              </a:ext>
            </a:extLst>
          </p:cNvPr>
          <p:cNvSpPr txBox="1"/>
          <p:nvPr/>
        </p:nvSpPr>
        <p:spPr>
          <a:xfrm>
            <a:off x="3524098" y="1263852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0.956</a:t>
            </a:r>
            <a:endParaRPr lang="en-US" sz="21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AF57903-5CDA-F4C6-430C-F3109F9F4746}"/>
              </a:ext>
            </a:extLst>
          </p:cNvPr>
          <p:cNvSpPr txBox="1"/>
          <p:nvPr/>
        </p:nvSpPr>
        <p:spPr>
          <a:xfrm>
            <a:off x="6381598" y="1054454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Recall</a:t>
            </a:r>
            <a:endParaRPr lang="en-US" sz="10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C099CDE8-CDA0-B0C6-F9BE-812D5FC16EF8}"/>
              </a:ext>
            </a:extLst>
          </p:cNvPr>
          <p:cNvSpPr txBox="1"/>
          <p:nvPr/>
        </p:nvSpPr>
        <p:spPr>
          <a:xfrm>
            <a:off x="6381598" y="1263852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0.233</a:t>
            </a:r>
            <a:endParaRPr lang="en-US" sz="21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8AC15C43-1A81-A856-2B8D-5B9BDA2F9DCC}"/>
              </a:ext>
            </a:extLst>
          </p:cNvPr>
          <p:cNvSpPr txBox="1"/>
          <p:nvPr/>
        </p:nvSpPr>
        <p:spPr>
          <a:xfrm>
            <a:off x="9239098" y="1054454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F1-Score</a:t>
            </a:r>
            <a:endParaRPr lang="en-US" sz="100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71A1BCC9-A65A-F55F-0AF2-27205BEDF7CA}"/>
              </a:ext>
            </a:extLst>
          </p:cNvPr>
          <p:cNvSpPr txBox="1"/>
          <p:nvPr/>
        </p:nvSpPr>
        <p:spPr>
          <a:xfrm>
            <a:off x="9239098" y="1263852"/>
            <a:ext cx="1981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0.375</a:t>
            </a:r>
            <a:endParaRPr lang="en-US" sz="2100" dirty="0"/>
          </a:p>
        </p:txBody>
      </p:sp>
      <p:pic>
        <p:nvPicPr>
          <p:cNvPr id="40" name="Image 7" descr="preencoded.png">
            <a:extLst>
              <a:ext uri="{FF2B5EF4-FFF2-40B4-BE49-F238E27FC236}">
                <a16:creationId xmlns:a16="http://schemas.microsoft.com/office/drawing/2014/main" id="{764DBFD8-7B89-EE06-08AA-DC8E5C2A12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86807" y="5413868"/>
            <a:ext cx="190195" cy="190195"/>
          </a:xfrm>
          <a:prstGeom prst="rect">
            <a:avLst/>
          </a:prstGeom>
        </p:spPr>
      </p:pic>
      <p:sp>
        <p:nvSpPr>
          <p:cNvPr id="41" name="Text 30">
            <a:extLst>
              <a:ext uri="{FF2B5EF4-FFF2-40B4-BE49-F238E27FC236}">
                <a16:creationId xmlns:a16="http://schemas.microsoft.com/office/drawing/2014/main" id="{26F56E57-F7D7-C112-B315-77E398741E70}"/>
              </a:ext>
            </a:extLst>
          </p:cNvPr>
          <p:cNvSpPr txBox="1"/>
          <p:nvPr/>
        </p:nvSpPr>
        <p:spPr>
          <a:xfrm>
            <a:off x="6001208" y="5405011"/>
            <a:ext cx="352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관계형 세탁 가시성 대폭 강화</a:t>
            </a:r>
            <a:endParaRPr lang="en-US" sz="1200" dirty="0"/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1BB6F888-DC06-B539-4EC3-ACFFDDAC6862}"/>
              </a:ext>
            </a:extLst>
          </p:cNvPr>
          <p:cNvSpPr txBox="1"/>
          <p:nvPr/>
        </p:nvSpPr>
        <p:spPr>
          <a:xfrm>
            <a:off x="6024641" y="5728137"/>
            <a:ext cx="4396616" cy="119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</a:t>
            </a:r>
            <a:r>
              <a:rPr lang="en-US" altLang="ko-KR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</a:t>
            </a: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모델이 놓치던 복잡한 구조적 </a:t>
            </a:r>
            <a:r>
              <a:rPr lang="en-US" sz="9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적발</a:t>
            </a: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9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특히 </a:t>
            </a:r>
            <a:r>
              <a:rPr lang="en-US" sz="9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CYCLE, BIPARTITE, RANDOM</a:t>
            </a: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900" dirty="0"/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180D746E-2EDD-DD33-8E57-05F468F8F230}"/>
              </a:ext>
            </a:extLst>
          </p:cNvPr>
          <p:cNvSpPr txBox="1"/>
          <p:nvPr/>
        </p:nvSpPr>
        <p:spPr>
          <a:xfrm>
            <a:off x="267005" y="6536655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47" name="Image 1">
            <a:extLst>
              <a:ext uri="{FF2B5EF4-FFF2-40B4-BE49-F238E27FC236}">
                <a16:creationId xmlns:a16="http://schemas.microsoft.com/office/drawing/2014/main" id="{A2F2E323-B8EC-BE1E-F797-CBD930DAA6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49" name="TextBox 7">
            <a:extLst>
              <a:ext uri="{FF2B5EF4-FFF2-40B4-BE49-F238E27FC236}">
                <a16:creationId xmlns:a16="http://schemas.microsoft.com/office/drawing/2014/main" id="{33DC01FF-488B-4000-ED0E-37FCDBA3F7B4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pic>
        <p:nvPicPr>
          <p:cNvPr id="51" name="Image 3" descr="preencoded.png">
            <a:extLst>
              <a:ext uri="{FF2B5EF4-FFF2-40B4-BE49-F238E27FC236}">
                <a16:creationId xmlns:a16="http://schemas.microsoft.com/office/drawing/2014/main" id="{DA7E7439-1909-3130-84F0-4B38F3AF01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467198" y="2085746"/>
            <a:ext cx="209398" cy="209398"/>
          </a:xfrm>
          <a:prstGeom prst="rect">
            <a:avLst/>
          </a:prstGeom>
        </p:spPr>
      </p:pic>
      <p:sp>
        <p:nvSpPr>
          <p:cNvPr id="52" name="Text 27">
            <a:extLst>
              <a:ext uri="{FF2B5EF4-FFF2-40B4-BE49-F238E27FC236}">
                <a16:creationId xmlns:a16="http://schemas.microsoft.com/office/drawing/2014/main" id="{67065CF8-B3C3-E175-4E42-15BD25385407}"/>
              </a:ext>
            </a:extLst>
          </p:cNvPr>
          <p:cNvSpPr txBox="1"/>
          <p:nvPr/>
        </p:nvSpPr>
        <p:spPr>
          <a:xfrm>
            <a:off x="5810098" y="2048256"/>
            <a:ext cx="5829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 패턴별 검출률 (Recall) 분석</a:t>
            </a:r>
            <a:endParaRPr lang="en-US" sz="1500" dirty="0"/>
          </a:p>
        </p:txBody>
      </p:sp>
      <p:sp>
        <p:nvSpPr>
          <p:cNvPr id="65" name="Shape 7">
            <a:extLst>
              <a:ext uri="{FF2B5EF4-FFF2-40B4-BE49-F238E27FC236}">
                <a16:creationId xmlns:a16="http://schemas.microsoft.com/office/drawing/2014/main" id="{D0674B76-6436-71C4-AC70-89C941C8DC75}"/>
              </a:ext>
            </a:extLst>
          </p:cNvPr>
          <p:cNvSpPr/>
          <p:nvPr/>
        </p:nvSpPr>
        <p:spPr>
          <a:xfrm>
            <a:off x="381305" y="1823651"/>
            <a:ext cx="4591202" cy="4285979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8">
            <a:extLst>
              <a:ext uri="{FF2B5EF4-FFF2-40B4-BE49-F238E27FC236}">
                <a16:creationId xmlns:a16="http://schemas.microsoft.com/office/drawing/2014/main" id="{25D411E5-2624-EB91-AE08-69C9ED948AE7}"/>
              </a:ext>
            </a:extLst>
          </p:cNvPr>
          <p:cNvSpPr/>
          <p:nvPr/>
        </p:nvSpPr>
        <p:spPr>
          <a:xfrm>
            <a:off x="381305" y="1823652"/>
            <a:ext cx="4591202" cy="38405"/>
          </a:xfrm>
          <a:prstGeom prst="roundRect">
            <a:avLst>
              <a:gd name="adj" fmla="val 195359"/>
            </a:avLst>
          </a:prstGeom>
          <a:solidFill>
            <a:srgbClr val="2B6CB0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highlight>
                <a:srgbClr val="0000FF"/>
              </a:highlight>
            </a:endParaRPr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D3676204-57C9-0284-2342-BD104C8666A4}"/>
              </a:ext>
            </a:extLst>
          </p:cNvPr>
          <p:cNvSpPr txBox="1"/>
          <p:nvPr/>
        </p:nvSpPr>
        <p:spPr>
          <a:xfrm>
            <a:off x="669020" y="2013848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</a:rPr>
              <a:t>실험</a:t>
            </a:r>
            <a:r>
              <a:rPr lang="en-US" altLang="ko-KR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② </a:t>
            </a:r>
            <a:r>
              <a:rPr lang="ko-KR" alt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시 고려한 점</a:t>
            </a:r>
            <a:r>
              <a:rPr lang="ko-KR" alt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endParaRPr lang="en-US" sz="1300" dirty="0"/>
          </a:p>
        </p:txBody>
      </p:sp>
      <p:sp>
        <p:nvSpPr>
          <p:cNvPr id="71" name="Shape 25">
            <a:extLst>
              <a:ext uri="{FF2B5EF4-FFF2-40B4-BE49-F238E27FC236}">
                <a16:creationId xmlns:a16="http://schemas.microsoft.com/office/drawing/2014/main" id="{622F94FD-953B-4A65-9AAA-35EA7D5B6C19}"/>
              </a:ext>
            </a:extLst>
          </p:cNvPr>
          <p:cNvSpPr/>
          <p:nvPr/>
        </p:nvSpPr>
        <p:spPr>
          <a:xfrm>
            <a:off x="571500" y="5039376"/>
            <a:ext cx="4190695" cy="792038"/>
          </a:xfrm>
          <a:prstGeom prst="roundRect">
            <a:avLst>
              <a:gd name="adj" fmla="val 59259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DB5D1AFF-5105-9147-2DD3-6DCD7EAC6A45}"/>
              </a:ext>
            </a:extLst>
          </p:cNvPr>
          <p:cNvSpPr txBox="1"/>
          <p:nvPr/>
        </p:nvSpPr>
        <p:spPr>
          <a:xfrm>
            <a:off x="552298" y="5204345"/>
            <a:ext cx="4229100" cy="441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이제 거래의 </a:t>
            </a:r>
            <a:r>
              <a:rPr lang="en-US" altLang="ko-KR" sz="1000" b="1" dirty="0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</a:t>
            </a:r>
            <a:r>
              <a:rPr lang="ko-KR" altLang="en-US" sz="1000" b="1" dirty="0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금액</a:t>
            </a:r>
            <a:r>
              <a:rPr lang="en-US" altLang="ko-KR" sz="1000" b="1" dirty="0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</a:t>
            </a:r>
            <a:r>
              <a:rPr lang="ko-KR" altLang="en-US" sz="1000" b="1" dirty="0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뿐만 아니라 </a:t>
            </a:r>
            <a:br>
              <a:rPr lang="en-US" altLang="ko-KR" sz="1000" b="1" dirty="0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000" b="1" dirty="0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</a:t>
            </a:r>
            <a:r>
              <a:rPr lang="ko-KR" altLang="en-US" sz="1000" b="1" dirty="0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누구에게 어떻게 </a:t>
            </a:r>
            <a:r>
              <a:rPr lang="ko-KR" altLang="en-US" sz="1000" b="1" dirty="0" err="1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퍼져나가는가</a:t>
            </a:r>
            <a:r>
              <a:rPr lang="en-US" altLang="ko-KR" sz="1000" b="1" dirty="0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</a:t>
            </a:r>
            <a:r>
              <a:rPr lang="ko-KR" altLang="en-US" sz="1000" b="1" dirty="0">
                <a:solidFill>
                  <a:schemeClr val="accent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라는 기하학적 형상을 판단의 근거로 사용함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74" name="Text 23">
            <a:extLst>
              <a:ext uri="{FF2B5EF4-FFF2-40B4-BE49-F238E27FC236}">
                <a16:creationId xmlns:a16="http://schemas.microsoft.com/office/drawing/2014/main" id="{83C441C2-EEE9-394A-5887-A431E2FD9B68}"/>
              </a:ext>
            </a:extLst>
          </p:cNvPr>
          <p:cNvSpPr txBox="1"/>
          <p:nvPr/>
        </p:nvSpPr>
        <p:spPr>
          <a:xfrm>
            <a:off x="666598" y="2382681"/>
            <a:ext cx="4219956" cy="1151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 피처를 비롯하여 총 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145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개의 고차원 피처를  학습하기 위해서</a:t>
            </a:r>
            <a:endParaRPr lang="en-US" altLang="ko-KR" sz="1100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endParaRPr lang="en-US" altLang="ko-KR" sz="1100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tree_method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='hist'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device='</a:t>
            </a:r>
            <a:r>
              <a:rPr lang="en-US" altLang="ko-KR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cuda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통한 대규모 연산 처리 진행</a:t>
            </a:r>
            <a:endParaRPr lang="en-US" altLang="ko-KR" sz="1100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endParaRPr lang="en-US" altLang="ko-KR" sz="1100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Polars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스트리밍 엔진과 메모리 매핑 기술을 사용하여 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3,200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건의 </a:t>
            </a:r>
            <a:endParaRPr lang="en-US" altLang="ko-KR" sz="1100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조인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(Join)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연산 시 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OOM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방지</a:t>
            </a:r>
            <a:endParaRPr lang="en-US" altLang="ko-KR" sz="1100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77" name="AutoShape 2">
            <a:extLst>
              <a:ext uri="{FF2B5EF4-FFF2-40B4-BE49-F238E27FC236}">
                <a16:creationId xmlns:a16="http://schemas.microsoft.com/office/drawing/2014/main" id="{34EC9397-BD7B-8E17-7D61-C5570E7BF4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8" name="AutoShape 4">
            <a:extLst>
              <a:ext uri="{FF2B5EF4-FFF2-40B4-BE49-F238E27FC236}">
                <a16:creationId xmlns:a16="http://schemas.microsoft.com/office/drawing/2014/main" id="{B04B8018-C1FB-E00C-2CA6-D162434579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C302813-0DAE-E34D-D382-6900A32449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209" y="2476764"/>
            <a:ext cx="6258610" cy="2570850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8FB526F8-9AB6-D58E-E577-704E6D4929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1294" y="4427558"/>
            <a:ext cx="418420" cy="177512"/>
          </a:xfrm>
          <a:prstGeom prst="rect">
            <a:avLst/>
          </a:prstGeom>
        </p:spPr>
      </p:pic>
      <p:sp>
        <p:nvSpPr>
          <p:cNvPr id="7" name="Text 22">
            <a:extLst>
              <a:ext uri="{FF2B5EF4-FFF2-40B4-BE49-F238E27FC236}">
                <a16:creationId xmlns:a16="http://schemas.microsoft.com/office/drawing/2014/main" id="{5194FAFC-993C-184A-B86B-590648CDD9DF}"/>
              </a:ext>
            </a:extLst>
          </p:cNvPr>
          <p:cNvSpPr txBox="1"/>
          <p:nvPr/>
        </p:nvSpPr>
        <p:spPr>
          <a:xfrm>
            <a:off x="669020" y="3774515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</a:t>
            </a: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중요도</a:t>
            </a:r>
            <a:endParaRPr lang="en-US" sz="1300" dirty="0"/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1C6D4FE1-203B-8DDA-7E4E-8D5AD1184116}"/>
              </a:ext>
            </a:extLst>
          </p:cNvPr>
          <p:cNvSpPr txBox="1"/>
          <p:nvPr/>
        </p:nvSpPr>
        <p:spPr>
          <a:xfrm>
            <a:off x="669020" y="3916604"/>
            <a:ext cx="4219956" cy="1015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수신자의 입출금 균형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altLang="ko-KR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r_sg_balance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endParaRPr lang="en-US" altLang="ko-KR" sz="1100" dirty="0">
              <a:solidFill>
                <a:srgbClr val="2D374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b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송신자의 연결 계좌 수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altLang="ko-KR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s_g_out_degree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</a:t>
            </a:r>
            <a:r>
              <a:rPr lang="en-US" altLang="ko-KR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5 </a:t>
            </a:r>
            <a:r>
              <a:rPr lang="ko-KR" alt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</a:t>
            </a:r>
          </a:p>
        </p:txBody>
      </p:sp>
    </p:spTree>
    <p:extLst>
      <p:ext uri="{BB962C8B-B14F-4D97-AF65-F5344CB8AC3E}">
        <p14:creationId xmlns:p14="http://schemas.microsoft.com/office/powerpoint/2010/main" val="187881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856"/>
    </mc:Choice>
    <mc:Fallback xmlns="">
      <p:transition spd="slow" advTm="7885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952805"/>
            <a:ext cx="11449202" cy="1733702"/>
          </a:xfrm>
          <a:prstGeom prst="roundRect">
            <a:avLst>
              <a:gd name="adj" fmla="val 46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2952598"/>
            <a:ext cx="3638398" cy="340065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81305" y="2952598"/>
            <a:ext cx="3638398" cy="57607"/>
          </a:xfrm>
          <a:prstGeom prst="roundRect">
            <a:avLst>
              <a:gd name="adj" fmla="val 71140"/>
            </a:avLst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286707" y="2952598"/>
            <a:ext cx="3638398" cy="340065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286707" y="2952598"/>
            <a:ext cx="3638398" cy="57607"/>
          </a:xfrm>
          <a:prstGeom prst="roundRect">
            <a:avLst>
              <a:gd name="adj" fmla="val 71140"/>
            </a:avLst>
          </a:prstGeom>
          <a:solidFill>
            <a:srgbClr val="319795"/>
          </a:solidFill>
          <a:ln w="12700">
            <a:solidFill>
              <a:srgbClr val="3197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8191195" y="2952598"/>
            <a:ext cx="3657600" cy="340979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76695" y="1238098"/>
            <a:ext cx="1466698" cy="800100"/>
          </a:xfrm>
          <a:prstGeom prst="roundRect">
            <a:avLst>
              <a:gd name="adj" fmla="val 21769"/>
            </a:avLst>
          </a:prstGeom>
          <a:solidFill>
            <a:srgbClr val="EBF8FF"/>
          </a:solidFill>
          <a:ln w="254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477402" y="1238098"/>
            <a:ext cx="1466698" cy="800100"/>
          </a:xfrm>
          <a:prstGeom prst="roundRect">
            <a:avLst>
              <a:gd name="adj" fmla="val 21769"/>
            </a:avLst>
          </a:prstGeom>
          <a:solidFill>
            <a:srgbClr val="E6FFFA"/>
          </a:solidFill>
          <a:ln w="25400">
            <a:solidFill>
              <a:srgbClr val="81E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477195" y="1238098"/>
            <a:ext cx="990295" cy="800100"/>
          </a:xfrm>
          <a:prstGeom prst="roundRect">
            <a:avLst>
              <a:gd name="adj" fmla="val 21769"/>
            </a:avLst>
          </a:prstGeom>
          <a:solidFill>
            <a:srgbClr val="FFF5F5"/>
          </a:solidFill>
          <a:ln w="25400">
            <a:solidFill>
              <a:srgbClr val="FEB2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476695" y="2190902"/>
            <a:ext cx="4953305" cy="333756"/>
          </a:xfrm>
          <a:prstGeom prst="roundRect">
            <a:avLst>
              <a:gd name="adj" fmla="val 273973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571500" y="4000500"/>
            <a:ext cx="3238805" cy="9144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4476902" y="4000500"/>
            <a:ext cx="3238805" cy="9144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8382305" y="4000500"/>
            <a:ext cx="3238805" cy="91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81305" y="190195"/>
            <a:ext cx="7734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Part9. 실험③ GNN (1-stage)</a:t>
            </a:r>
            <a:endParaRPr lang="en-US" sz="2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595274" y="1181405"/>
            <a:ext cx="256946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52805" y="1143000"/>
            <a:ext cx="441380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원리: 메시지 패싱 (Message Passing)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571500" y="1571854"/>
            <a:ext cx="5429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"네 친구를 보면 너를 안다"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571500" y="1971446"/>
            <a:ext cx="53154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노드가 이웃의 정보를 받아 자신의 상태를 업데이트하며,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피처를 넘어 </a:t>
            </a: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구조(Topology) 자체를 학습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과정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6543446" y="1380744"/>
            <a:ext cx="1295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인코더 (Encoder)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(GNN Layers)</a:t>
            </a:r>
            <a:endParaRPr lang="en-US" sz="12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8106156" y="1524305"/>
            <a:ext cx="171907" cy="1901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544154" y="1380744"/>
            <a:ext cx="1295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97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노드 임베딩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197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(Dense Vector)</a:t>
            </a:r>
            <a:endParaRPr lang="en-US" sz="12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10105949" y="1524305"/>
            <a:ext cx="171907" cy="1901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543946" y="1380744"/>
            <a:ext cx="819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디코더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(MLP)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7197242" y="2257654"/>
            <a:ext cx="42528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 최적화 (미니배치 &amp; NeighborLoader 대규모 학습)</a:t>
            </a:r>
            <a:endParaRPr lang="en-US" sz="10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06133" y="2293315"/>
            <a:ext cx="133502" cy="133502"/>
          </a:xfrm>
          <a:prstGeom prst="rect">
            <a:avLst/>
          </a:prstGeom>
        </p:spPr>
      </p:pic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614477" y="3267151"/>
            <a:ext cx="200254" cy="2286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52805" y="3191256"/>
            <a:ext cx="2971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GraphSAGE</a:t>
            </a:r>
            <a:endParaRPr lang="en-US" sz="1600" dirty="0"/>
          </a:p>
        </p:txBody>
      </p:sp>
      <p:sp>
        <p:nvSpPr>
          <p:cNvPr id="32" name="Text 21"/>
          <p:cNvSpPr txBox="1"/>
          <p:nvPr/>
        </p:nvSpPr>
        <p:spPr>
          <a:xfrm>
            <a:off x="571500" y="366674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확장성: 이웃 샘플링 &amp; 집계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571500" y="4190695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이웃을 확인하는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대신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11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고정된</a:t>
            </a: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수의 이웃만 샘플링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연산량 통제</a:t>
            </a:r>
            <a:endParaRPr lang="en-US" sz="1100" dirty="0"/>
          </a:p>
        </p:txBody>
      </p:sp>
      <p:sp>
        <p:nvSpPr>
          <p:cNvPr id="34" name="Text 23"/>
          <p:cNvSpPr txBox="1"/>
          <p:nvPr/>
        </p:nvSpPr>
        <p:spPr>
          <a:xfrm>
            <a:off x="571500" y="4762195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3,200만 건 규모의 대용량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거래망을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고속으로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처리하는 데 최적화됨</a:t>
            </a:r>
            <a:endParaRPr lang="en-US" sz="1100" dirty="0"/>
          </a:p>
        </p:txBody>
      </p:sp>
      <p:sp>
        <p:nvSpPr>
          <p:cNvPr id="35" name="Text 24"/>
          <p:cNvSpPr txBox="1"/>
          <p:nvPr/>
        </p:nvSpPr>
        <p:spPr>
          <a:xfrm>
            <a:off x="571500" y="5333695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노드(Unseen Node)에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일반화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능력이 우수함</a:t>
            </a:r>
            <a:endParaRPr lang="en-US" sz="11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4490618" y="3267151"/>
            <a:ext cx="256946" cy="2286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4858207" y="3191256"/>
            <a:ext cx="2971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GATv2</a:t>
            </a:r>
            <a:endParaRPr lang="en-US" sz="1600" dirty="0"/>
          </a:p>
        </p:txBody>
      </p:sp>
      <p:sp>
        <p:nvSpPr>
          <p:cNvPr id="38" name="Text 26"/>
          <p:cNvSpPr txBox="1"/>
          <p:nvPr/>
        </p:nvSpPr>
        <p:spPr>
          <a:xfrm>
            <a:off x="4476902" y="366674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197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정교함: 동적 어텐션 가중치</a:t>
            </a:r>
            <a:endParaRPr lang="en-US" sz="1200" dirty="0"/>
          </a:p>
        </p:txBody>
      </p:sp>
      <p:sp>
        <p:nvSpPr>
          <p:cNvPr id="39" name="Text 27"/>
          <p:cNvSpPr txBox="1"/>
          <p:nvPr/>
        </p:nvSpPr>
        <p:spPr>
          <a:xfrm>
            <a:off x="4476902" y="4190695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197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계좌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간 </a:t>
            </a: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중요도를 스스로 </a:t>
            </a:r>
            <a:r>
              <a:rPr lang="en-US" sz="1100" b="1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부여 (Attention)</a:t>
            </a:r>
            <a:endParaRPr lang="en-US" sz="1100" dirty="0"/>
          </a:p>
        </p:txBody>
      </p:sp>
      <p:sp>
        <p:nvSpPr>
          <p:cNvPr id="40" name="Text 28"/>
          <p:cNvSpPr txBox="1"/>
          <p:nvPr/>
        </p:nvSpPr>
        <p:spPr>
          <a:xfrm>
            <a:off x="4476902" y="4762195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197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거래(Noise)의 영향력을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줄이고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의심되는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연결에 집중</a:t>
            </a:r>
            <a:endParaRPr lang="en-US" sz="1100" dirty="0"/>
          </a:p>
        </p:txBody>
      </p:sp>
      <p:sp>
        <p:nvSpPr>
          <p:cNvPr id="41" name="Text 29"/>
          <p:cNvSpPr txBox="1"/>
          <p:nvPr/>
        </p:nvSpPr>
        <p:spPr>
          <a:xfrm>
            <a:off x="4476902" y="5333695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197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GAT의 정적 한계를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극복한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동적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(Dynamic) 어텐션 메커니즘</a:t>
            </a:r>
            <a:endParaRPr lang="en-US" sz="11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8396021" y="3267151"/>
            <a:ext cx="256946" cy="22860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762695" y="3191256"/>
            <a:ext cx="33631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LAS-GNN </a:t>
            </a:r>
            <a:r>
              <a:rPr lang="en-US" sz="1200" b="1" dirty="0">
                <a:solidFill>
                  <a:srgbClr val="D69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(Domain-Specific)</a:t>
            </a:r>
            <a:endParaRPr lang="en-US" sz="1600" dirty="0"/>
          </a:p>
        </p:txBody>
      </p:sp>
      <p:sp>
        <p:nvSpPr>
          <p:cNvPr id="44" name="Text 31"/>
          <p:cNvSpPr txBox="1"/>
          <p:nvPr/>
        </p:nvSpPr>
        <p:spPr>
          <a:xfrm>
            <a:off x="8382305" y="366674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79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패턴: 엣지 속성 반영 양방향 집계</a:t>
            </a:r>
            <a:endParaRPr lang="en-US" sz="1200" dirty="0"/>
          </a:p>
        </p:txBody>
      </p:sp>
      <p:sp>
        <p:nvSpPr>
          <p:cNvPr id="45" name="Text 32"/>
          <p:cNvSpPr txBox="1"/>
          <p:nvPr/>
        </p:nvSpPr>
        <p:spPr>
          <a:xfrm>
            <a:off x="8382305" y="4190695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9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노드뿐만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아니라 </a:t>
            </a:r>
            <a:r>
              <a:rPr lang="en-US" sz="1100" b="1" dirty="0">
                <a:solidFill>
                  <a:srgbClr val="975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 속성(시간, 금액)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</a:t>
            </a:r>
            <a:b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패싱에 직접 활용 (Edge Gate)</a:t>
            </a:r>
            <a:endParaRPr lang="en-US" sz="1100" dirty="0"/>
          </a:p>
        </p:txBody>
      </p:sp>
      <p:sp>
        <p:nvSpPr>
          <p:cNvPr id="46" name="Text 33"/>
          <p:cNvSpPr txBox="1"/>
          <p:nvPr/>
        </p:nvSpPr>
        <p:spPr>
          <a:xfrm>
            <a:off x="8382305" y="4762195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9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송금과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수신의 방향성을 분리하여 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학습하는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11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양방향</a:t>
            </a:r>
            <a:r>
              <a:rPr lang="en-US" sz="11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집계 구조</a:t>
            </a:r>
            <a:endParaRPr lang="en-US" sz="1100" dirty="0"/>
          </a:p>
        </p:txBody>
      </p:sp>
      <p:sp>
        <p:nvSpPr>
          <p:cNvPr id="47" name="Text 34"/>
          <p:cNvSpPr txBox="1"/>
          <p:nvPr/>
        </p:nvSpPr>
        <p:spPr>
          <a:xfrm>
            <a:off x="8382305" y="5333695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9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</a:t>
            </a:r>
            <a:r>
              <a:rPr lang="en-US" sz="1100" b="1" dirty="0" err="1">
                <a:solidFill>
                  <a:srgbClr val="B779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</a:t>
            </a:r>
            <a:r>
              <a:rPr lang="en-US" sz="1100" b="1" dirty="0">
                <a:solidFill>
                  <a:srgbClr val="B779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금융 </a:t>
            </a:r>
            <a:r>
              <a:rPr lang="en-US" sz="1100" b="1" dirty="0" err="1">
                <a:solidFill>
                  <a:srgbClr val="B779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범죄</a:t>
            </a:r>
            <a:r>
              <a:rPr lang="en-US" sz="1100" b="1" dirty="0">
                <a:solidFill>
                  <a:srgbClr val="B779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b="1" dirty="0" err="1">
                <a:solidFill>
                  <a:srgbClr val="B779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탐지에</a:t>
            </a:r>
            <a:r>
              <a:rPr lang="en-US" sz="1100" b="1" dirty="0">
                <a:solidFill>
                  <a:srgbClr val="B779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b="1" dirty="0" err="1">
                <a:solidFill>
                  <a:srgbClr val="B779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</a:t>
            </a:r>
            <a:r>
              <a:rPr lang="en-US" sz="1100" b="1" dirty="0">
                <a:solidFill>
                  <a:srgbClr val="B779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최적화된 아키텍처</a:t>
            </a:r>
            <a:endParaRPr lang="en-US" sz="1100" dirty="0"/>
          </a:p>
        </p:txBody>
      </p:sp>
      <p:sp>
        <p:nvSpPr>
          <p:cNvPr id="48" name="Text 35"/>
          <p:cNvSpPr txBox="1"/>
          <p:nvPr/>
        </p:nvSpPr>
        <p:spPr>
          <a:xfrm>
            <a:off x="267005" y="6476695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49" name="Image 1">
            <a:extLst>
              <a:ext uri="{FF2B5EF4-FFF2-40B4-BE49-F238E27FC236}">
                <a16:creationId xmlns:a16="http://schemas.microsoft.com/office/drawing/2014/main" id="{6ED8D0F9-DCF3-E438-8586-31208F4516E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51" name="TextBox 7">
            <a:extLst>
              <a:ext uri="{FF2B5EF4-FFF2-40B4-BE49-F238E27FC236}">
                <a16:creationId xmlns:a16="http://schemas.microsoft.com/office/drawing/2014/main" id="{6B0362FF-BA6A-99B4-7F23-A8E35142C339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920"/>
    </mc:Choice>
    <mc:Fallback xmlns="">
      <p:transition spd="slow" advTm="12792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11C27-4DA8-0220-8D10-6648C6B7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F2031B-00A2-289A-CDD2-86E42C5C7E3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D585F11-4538-F163-8126-501E888F277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7" name="Image 0" descr="preencoded.png">
            <a:extLst>
              <a:ext uri="{FF2B5EF4-FFF2-40B4-BE49-F238E27FC236}">
                <a16:creationId xmlns:a16="http://schemas.microsoft.com/office/drawing/2014/main" id="{1DD7999D-D9BC-008A-A082-41F583065D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8191195" y="1051227"/>
            <a:ext cx="3657600" cy="5249349"/>
          </a:xfrm>
          <a:prstGeom prst="rect">
            <a:avLst/>
          </a:prstGeom>
        </p:spPr>
      </p:pic>
      <p:sp>
        <p:nvSpPr>
          <p:cNvPr id="125" name="Shape 6">
            <a:extLst>
              <a:ext uri="{FF2B5EF4-FFF2-40B4-BE49-F238E27FC236}">
                <a16:creationId xmlns:a16="http://schemas.microsoft.com/office/drawing/2014/main" id="{54CE1122-CDD7-15F1-289C-2A2192A9EE36}"/>
              </a:ext>
            </a:extLst>
          </p:cNvPr>
          <p:cNvSpPr/>
          <p:nvPr/>
        </p:nvSpPr>
        <p:spPr>
          <a:xfrm>
            <a:off x="4286707" y="1051228"/>
            <a:ext cx="3638398" cy="5235272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4">
            <a:extLst>
              <a:ext uri="{FF2B5EF4-FFF2-40B4-BE49-F238E27FC236}">
                <a16:creationId xmlns:a16="http://schemas.microsoft.com/office/drawing/2014/main" id="{932CC016-C114-A953-42C7-C5E930EC8440}"/>
              </a:ext>
            </a:extLst>
          </p:cNvPr>
          <p:cNvSpPr/>
          <p:nvPr/>
        </p:nvSpPr>
        <p:spPr>
          <a:xfrm>
            <a:off x="381305" y="1051228"/>
            <a:ext cx="3638398" cy="5235272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56994F-648F-881F-CDF6-20C7BF6F25D5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B5B7B40-CE84-9F66-D516-E7982D8EFFAD}"/>
              </a:ext>
            </a:extLst>
          </p:cNvPr>
          <p:cNvSpPr txBox="1"/>
          <p:nvPr/>
        </p:nvSpPr>
        <p:spPr>
          <a:xfrm>
            <a:off x="381305" y="190195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Part9. </a:t>
            </a:r>
            <a:r>
              <a:rPr lang="en-US" altLang="ko-KR" sz="21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</a:t>
            </a:r>
            <a:r>
              <a:rPr lang="en-US" altLang="ko-KR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GNN (1-stage)</a:t>
            </a:r>
            <a:endParaRPr lang="en-US" sz="21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D00F0201-DB93-5F59-2DDF-8DD89C2A6E9F}"/>
              </a:ext>
            </a:extLst>
          </p:cNvPr>
          <p:cNvSpPr txBox="1"/>
          <p:nvPr/>
        </p:nvSpPr>
        <p:spPr>
          <a:xfrm>
            <a:off x="5011660" y="2365873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AUPRC</a:t>
            </a:r>
            <a:endParaRPr lang="en-US" sz="10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8ED28846-B6BD-CE95-3FC1-0412A93AFE4A}"/>
              </a:ext>
            </a:extLst>
          </p:cNvPr>
          <p:cNvSpPr txBox="1"/>
          <p:nvPr/>
        </p:nvSpPr>
        <p:spPr>
          <a:xfrm>
            <a:off x="2086510" y="2281000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0.008</a:t>
            </a:r>
            <a:endParaRPr lang="en-US" sz="14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ED6DB69-39A2-9637-6CB6-9B6F1C3F41F3}"/>
              </a:ext>
            </a:extLst>
          </p:cNvPr>
          <p:cNvSpPr txBox="1"/>
          <p:nvPr/>
        </p:nvSpPr>
        <p:spPr>
          <a:xfrm>
            <a:off x="4997146" y="2629430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Precision</a:t>
            </a:r>
            <a:endParaRPr lang="en-US" sz="10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8478358B-B083-A308-2D76-84DD89B791C8}"/>
              </a:ext>
            </a:extLst>
          </p:cNvPr>
          <p:cNvSpPr txBox="1"/>
          <p:nvPr/>
        </p:nvSpPr>
        <p:spPr>
          <a:xfrm>
            <a:off x="4997146" y="2890342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Recall</a:t>
            </a:r>
            <a:endParaRPr lang="en-US" sz="10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744C0CDF-604C-FBB1-3C99-1DFCB4217F3A}"/>
              </a:ext>
            </a:extLst>
          </p:cNvPr>
          <p:cNvSpPr txBox="1"/>
          <p:nvPr/>
        </p:nvSpPr>
        <p:spPr>
          <a:xfrm>
            <a:off x="4997146" y="315389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F1-Score</a:t>
            </a:r>
            <a:endParaRPr lang="en-US" sz="1000" dirty="0"/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71876BF5-88CE-F4A3-B1CD-99F17972EC34}"/>
              </a:ext>
            </a:extLst>
          </p:cNvPr>
          <p:cNvSpPr txBox="1"/>
          <p:nvPr/>
        </p:nvSpPr>
        <p:spPr>
          <a:xfrm>
            <a:off x="267005" y="6476695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47" name="Image 1">
            <a:extLst>
              <a:ext uri="{FF2B5EF4-FFF2-40B4-BE49-F238E27FC236}">
                <a16:creationId xmlns:a16="http://schemas.microsoft.com/office/drawing/2014/main" id="{A0E1AE9C-C27B-778C-4FF9-8D0B4071B2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49" name="TextBox 7">
            <a:extLst>
              <a:ext uri="{FF2B5EF4-FFF2-40B4-BE49-F238E27FC236}">
                <a16:creationId xmlns:a16="http://schemas.microsoft.com/office/drawing/2014/main" id="{8FDA5A15-66F7-0E0A-BCB6-B56EC755106A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124" name="Shape 5">
            <a:extLst>
              <a:ext uri="{FF2B5EF4-FFF2-40B4-BE49-F238E27FC236}">
                <a16:creationId xmlns:a16="http://schemas.microsoft.com/office/drawing/2014/main" id="{80A9DB2F-4DB9-BBCA-5F20-CF2D55917BC4}"/>
              </a:ext>
            </a:extLst>
          </p:cNvPr>
          <p:cNvSpPr/>
          <p:nvPr/>
        </p:nvSpPr>
        <p:spPr>
          <a:xfrm>
            <a:off x="381305" y="1051228"/>
            <a:ext cx="3638398" cy="88685"/>
          </a:xfrm>
          <a:prstGeom prst="roundRect">
            <a:avLst>
              <a:gd name="adj" fmla="val 71140"/>
            </a:avLst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7">
            <a:extLst>
              <a:ext uri="{FF2B5EF4-FFF2-40B4-BE49-F238E27FC236}">
                <a16:creationId xmlns:a16="http://schemas.microsoft.com/office/drawing/2014/main" id="{FA22F801-7EC1-E911-5071-5B172A9B4358}"/>
              </a:ext>
            </a:extLst>
          </p:cNvPr>
          <p:cNvSpPr/>
          <p:nvPr/>
        </p:nvSpPr>
        <p:spPr>
          <a:xfrm>
            <a:off x="4286707" y="1051228"/>
            <a:ext cx="3638398" cy="88685"/>
          </a:xfrm>
          <a:prstGeom prst="roundRect">
            <a:avLst>
              <a:gd name="adj" fmla="val 71140"/>
            </a:avLst>
          </a:prstGeom>
          <a:solidFill>
            <a:srgbClr val="319795"/>
          </a:solidFill>
          <a:ln w="12700">
            <a:solidFill>
              <a:srgbClr val="3197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8" name="Image 1" descr="preencoded.png">
            <a:extLst>
              <a:ext uri="{FF2B5EF4-FFF2-40B4-BE49-F238E27FC236}">
                <a16:creationId xmlns:a16="http://schemas.microsoft.com/office/drawing/2014/main" id="{237ADB0E-424F-0465-EA1E-0441AAA048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571500" y="2134928"/>
            <a:ext cx="3238805" cy="45719"/>
          </a:xfrm>
          <a:prstGeom prst="rect">
            <a:avLst/>
          </a:prstGeom>
        </p:spPr>
      </p:pic>
      <p:pic>
        <p:nvPicPr>
          <p:cNvPr id="129" name="Image 2" descr="preencoded.png">
            <a:extLst>
              <a:ext uri="{FF2B5EF4-FFF2-40B4-BE49-F238E27FC236}">
                <a16:creationId xmlns:a16="http://schemas.microsoft.com/office/drawing/2014/main" id="{7AB7A4B2-32CC-0A94-4FD1-5C6BE40018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4476902" y="2134928"/>
            <a:ext cx="3238805" cy="45719"/>
          </a:xfrm>
          <a:prstGeom prst="rect">
            <a:avLst/>
          </a:prstGeom>
        </p:spPr>
      </p:pic>
      <p:pic>
        <p:nvPicPr>
          <p:cNvPr id="130" name="Image 3" descr="preencoded.png">
            <a:extLst>
              <a:ext uri="{FF2B5EF4-FFF2-40B4-BE49-F238E27FC236}">
                <a16:creationId xmlns:a16="http://schemas.microsoft.com/office/drawing/2014/main" id="{62EF1547-36C3-46BF-4F2C-4E93ED6825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8382305" y="2134928"/>
            <a:ext cx="3238805" cy="45719"/>
          </a:xfrm>
          <a:prstGeom prst="rect">
            <a:avLst/>
          </a:prstGeom>
        </p:spPr>
      </p:pic>
      <p:pic>
        <p:nvPicPr>
          <p:cNvPr id="131" name="Image 8" descr="preencoded.png">
            <a:extLst>
              <a:ext uri="{FF2B5EF4-FFF2-40B4-BE49-F238E27FC236}">
                <a16:creationId xmlns:a16="http://schemas.microsoft.com/office/drawing/2014/main" id="{7D5A056F-F6E3-D6D4-E2CC-77882E428A2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614477" y="1477882"/>
            <a:ext cx="200254" cy="351927"/>
          </a:xfrm>
          <a:prstGeom prst="rect">
            <a:avLst/>
          </a:prstGeom>
        </p:spPr>
      </p:pic>
      <p:sp>
        <p:nvSpPr>
          <p:cNvPr id="132" name="Text 20">
            <a:extLst>
              <a:ext uri="{FF2B5EF4-FFF2-40B4-BE49-F238E27FC236}">
                <a16:creationId xmlns:a16="http://schemas.microsoft.com/office/drawing/2014/main" id="{1B1112B9-2A47-317A-E111-B28CA7B3BCD4}"/>
              </a:ext>
            </a:extLst>
          </p:cNvPr>
          <p:cNvSpPr txBox="1"/>
          <p:nvPr/>
        </p:nvSpPr>
        <p:spPr>
          <a:xfrm>
            <a:off x="952805" y="1373413"/>
            <a:ext cx="2971800" cy="58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GraphSAGE</a:t>
            </a:r>
            <a:endParaRPr lang="en-US" sz="1600" dirty="0"/>
          </a:p>
        </p:txBody>
      </p:sp>
      <p:pic>
        <p:nvPicPr>
          <p:cNvPr id="137" name="Image 9" descr="preencoded.png">
            <a:extLst>
              <a:ext uri="{FF2B5EF4-FFF2-40B4-BE49-F238E27FC236}">
                <a16:creationId xmlns:a16="http://schemas.microsoft.com/office/drawing/2014/main" id="{F4EE0DA1-352F-4AE6-0EA4-E4EF41F7013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4490618" y="1449307"/>
            <a:ext cx="256946" cy="351927"/>
          </a:xfrm>
          <a:prstGeom prst="rect">
            <a:avLst/>
          </a:prstGeom>
        </p:spPr>
      </p:pic>
      <p:sp>
        <p:nvSpPr>
          <p:cNvPr id="138" name="Text 25">
            <a:extLst>
              <a:ext uri="{FF2B5EF4-FFF2-40B4-BE49-F238E27FC236}">
                <a16:creationId xmlns:a16="http://schemas.microsoft.com/office/drawing/2014/main" id="{7BB88383-A752-2C63-6767-32FBB6450C10}"/>
              </a:ext>
            </a:extLst>
          </p:cNvPr>
          <p:cNvSpPr txBox="1"/>
          <p:nvPr/>
        </p:nvSpPr>
        <p:spPr>
          <a:xfrm>
            <a:off x="4858207" y="1354363"/>
            <a:ext cx="2971800" cy="58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GATv2</a:t>
            </a:r>
            <a:endParaRPr lang="en-US" sz="1600" dirty="0"/>
          </a:p>
        </p:txBody>
      </p:sp>
      <p:pic>
        <p:nvPicPr>
          <p:cNvPr id="143" name="Image 10" descr="preencoded.png">
            <a:extLst>
              <a:ext uri="{FF2B5EF4-FFF2-40B4-BE49-F238E27FC236}">
                <a16:creationId xmlns:a16="http://schemas.microsoft.com/office/drawing/2014/main" id="{A399B9F2-90DA-8F27-8FE1-9E1FCDED966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8396021" y="1468357"/>
            <a:ext cx="256946" cy="351927"/>
          </a:xfrm>
          <a:prstGeom prst="rect">
            <a:avLst/>
          </a:prstGeom>
        </p:spPr>
      </p:pic>
      <p:sp>
        <p:nvSpPr>
          <p:cNvPr id="144" name="Text 30">
            <a:extLst>
              <a:ext uri="{FF2B5EF4-FFF2-40B4-BE49-F238E27FC236}">
                <a16:creationId xmlns:a16="http://schemas.microsoft.com/office/drawing/2014/main" id="{9C08A065-10B7-F37B-87B9-EF7B8298B885}"/>
              </a:ext>
            </a:extLst>
          </p:cNvPr>
          <p:cNvSpPr txBox="1"/>
          <p:nvPr/>
        </p:nvSpPr>
        <p:spPr>
          <a:xfrm>
            <a:off x="8762695" y="1344838"/>
            <a:ext cx="3363163" cy="63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LAS-GNN </a:t>
            </a:r>
            <a:r>
              <a:rPr lang="en-US" sz="1200" b="1" dirty="0">
                <a:solidFill>
                  <a:srgbClr val="D69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(Domain-Specific)</a:t>
            </a:r>
            <a:endParaRPr lang="en-US" sz="1600" dirty="0"/>
          </a:p>
        </p:txBody>
      </p:sp>
      <p:sp>
        <p:nvSpPr>
          <p:cNvPr id="153" name="Text 12">
            <a:extLst>
              <a:ext uri="{FF2B5EF4-FFF2-40B4-BE49-F238E27FC236}">
                <a16:creationId xmlns:a16="http://schemas.microsoft.com/office/drawing/2014/main" id="{6E33FB68-B2F3-C95E-1DF1-2157BC3F5CD6}"/>
              </a:ext>
            </a:extLst>
          </p:cNvPr>
          <p:cNvSpPr txBox="1"/>
          <p:nvPr/>
        </p:nvSpPr>
        <p:spPr>
          <a:xfrm>
            <a:off x="8947564" y="2356143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AUPRC</a:t>
            </a:r>
            <a:endParaRPr lang="en-US" sz="1000" dirty="0"/>
          </a:p>
        </p:txBody>
      </p:sp>
      <p:sp>
        <p:nvSpPr>
          <p:cNvPr id="154" name="Text 14">
            <a:extLst>
              <a:ext uri="{FF2B5EF4-FFF2-40B4-BE49-F238E27FC236}">
                <a16:creationId xmlns:a16="http://schemas.microsoft.com/office/drawing/2014/main" id="{9EEEBA76-83CC-2492-6330-7E0F819EFB46}"/>
              </a:ext>
            </a:extLst>
          </p:cNvPr>
          <p:cNvSpPr txBox="1"/>
          <p:nvPr/>
        </p:nvSpPr>
        <p:spPr>
          <a:xfrm>
            <a:off x="8933050" y="2619700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Precision</a:t>
            </a:r>
            <a:endParaRPr lang="en-US" sz="1000" dirty="0"/>
          </a:p>
        </p:txBody>
      </p:sp>
      <p:sp>
        <p:nvSpPr>
          <p:cNvPr id="155" name="Text 16">
            <a:extLst>
              <a:ext uri="{FF2B5EF4-FFF2-40B4-BE49-F238E27FC236}">
                <a16:creationId xmlns:a16="http://schemas.microsoft.com/office/drawing/2014/main" id="{491ED4E7-AB28-043A-BEF7-FD6D821EFC01}"/>
              </a:ext>
            </a:extLst>
          </p:cNvPr>
          <p:cNvSpPr txBox="1"/>
          <p:nvPr/>
        </p:nvSpPr>
        <p:spPr>
          <a:xfrm>
            <a:off x="8933050" y="2880612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Recall</a:t>
            </a:r>
            <a:endParaRPr lang="en-US" sz="1000" dirty="0"/>
          </a:p>
        </p:txBody>
      </p:sp>
      <p:sp>
        <p:nvSpPr>
          <p:cNvPr id="156" name="Text 18">
            <a:extLst>
              <a:ext uri="{FF2B5EF4-FFF2-40B4-BE49-F238E27FC236}">
                <a16:creationId xmlns:a16="http://schemas.microsoft.com/office/drawing/2014/main" id="{89D3CB9E-2E9A-EFAC-A280-765EA99B16ED}"/>
              </a:ext>
            </a:extLst>
          </p:cNvPr>
          <p:cNvSpPr txBox="1"/>
          <p:nvPr/>
        </p:nvSpPr>
        <p:spPr>
          <a:xfrm>
            <a:off x="8933050" y="314416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F1-Score</a:t>
            </a:r>
            <a:endParaRPr lang="en-US" sz="1000" dirty="0"/>
          </a:p>
        </p:txBody>
      </p:sp>
      <p:sp>
        <p:nvSpPr>
          <p:cNvPr id="157" name="Text 12">
            <a:extLst>
              <a:ext uri="{FF2B5EF4-FFF2-40B4-BE49-F238E27FC236}">
                <a16:creationId xmlns:a16="http://schemas.microsoft.com/office/drawing/2014/main" id="{81A95EF0-D8BF-824B-7C64-2312581C60A2}"/>
              </a:ext>
            </a:extLst>
          </p:cNvPr>
          <p:cNvSpPr txBox="1"/>
          <p:nvPr/>
        </p:nvSpPr>
        <p:spPr>
          <a:xfrm>
            <a:off x="678436" y="2376194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AUPRC</a:t>
            </a:r>
            <a:endParaRPr lang="en-US" sz="1000" dirty="0"/>
          </a:p>
        </p:txBody>
      </p:sp>
      <p:sp>
        <p:nvSpPr>
          <p:cNvPr id="158" name="Text 14">
            <a:extLst>
              <a:ext uri="{FF2B5EF4-FFF2-40B4-BE49-F238E27FC236}">
                <a16:creationId xmlns:a16="http://schemas.microsoft.com/office/drawing/2014/main" id="{DEC72E1B-73D0-C679-AEC3-17871BF34F7D}"/>
              </a:ext>
            </a:extLst>
          </p:cNvPr>
          <p:cNvSpPr txBox="1"/>
          <p:nvPr/>
        </p:nvSpPr>
        <p:spPr>
          <a:xfrm>
            <a:off x="664065" y="2627968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Precision</a:t>
            </a:r>
            <a:endParaRPr lang="en-US" sz="1000" dirty="0"/>
          </a:p>
        </p:txBody>
      </p:sp>
      <p:sp>
        <p:nvSpPr>
          <p:cNvPr id="159" name="Text 16">
            <a:extLst>
              <a:ext uri="{FF2B5EF4-FFF2-40B4-BE49-F238E27FC236}">
                <a16:creationId xmlns:a16="http://schemas.microsoft.com/office/drawing/2014/main" id="{E08E70A3-DA59-357B-6626-62878A81F8B3}"/>
              </a:ext>
            </a:extLst>
          </p:cNvPr>
          <p:cNvSpPr txBox="1"/>
          <p:nvPr/>
        </p:nvSpPr>
        <p:spPr>
          <a:xfrm>
            <a:off x="664065" y="2888880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Recall</a:t>
            </a:r>
            <a:endParaRPr lang="en-US" sz="1000" dirty="0"/>
          </a:p>
        </p:txBody>
      </p:sp>
      <p:sp>
        <p:nvSpPr>
          <p:cNvPr id="160" name="Text 18">
            <a:extLst>
              <a:ext uri="{FF2B5EF4-FFF2-40B4-BE49-F238E27FC236}">
                <a16:creationId xmlns:a16="http://schemas.microsoft.com/office/drawing/2014/main" id="{FC965802-3EF6-BBBA-122A-61E077C75D3C}"/>
              </a:ext>
            </a:extLst>
          </p:cNvPr>
          <p:cNvSpPr txBox="1"/>
          <p:nvPr/>
        </p:nvSpPr>
        <p:spPr>
          <a:xfrm>
            <a:off x="664065" y="3152437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F1-Score</a:t>
            </a:r>
            <a:endParaRPr lang="en-US" sz="1000" dirty="0"/>
          </a:p>
        </p:txBody>
      </p:sp>
      <p:sp>
        <p:nvSpPr>
          <p:cNvPr id="161" name="Text 13">
            <a:extLst>
              <a:ext uri="{FF2B5EF4-FFF2-40B4-BE49-F238E27FC236}">
                <a16:creationId xmlns:a16="http://schemas.microsoft.com/office/drawing/2014/main" id="{5665F2B8-E2B4-E31D-C64E-3DC2EB09AF69}"/>
              </a:ext>
            </a:extLst>
          </p:cNvPr>
          <p:cNvSpPr txBox="1"/>
          <p:nvPr/>
        </p:nvSpPr>
        <p:spPr>
          <a:xfrm>
            <a:off x="2665035" y="2273402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0.011</a:t>
            </a:r>
            <a:endParaRPr lang="en-US" sz="1400" dirty="0"/>
          </a:p>
        </p:txBody>
      </p:sp>
      <p:sp>
        <p:nvSpPr>
          <p:cNvPr id="162" name="Text 13">
            <a:extLst>
              <a:ext uri="{FF2B5EF4-FFF2-40B4-BE49-F238E27FC236}">
                <a16:creationId xmlns:a16="http://schemas.microsoft.com/office/drawing/2014/main" id="{5510DB19-151E-0AF8-525C-3D3C107B97BB}"/>
              </a:ext>
            </a:extLst>
          </p:cNvPr>
          <p:cNvSpPr txBox="1"/>
          <p:nvPr/>
        </p:nvSpPr>
        <p:spPr>
          <a:xfrm>
            <a:off x="3236077" y="2271474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0.010</a:t>
            </a:r>
            <a:endParaRPr lang="en-US" sz="1400" dirty="0"/>
          </a:p>
        </p:txBody>
      </p:sp>
      <p:sp>
        <p:nvSpPr>
          <p:cNvPr id="166" name="Text 13">
            <a:extLst>
              <a:ext uri="{FF2B5EF4-FFF2-40B4-BE49-F238E27FC236}">
                <a16:creationId xmlns:a16="http://schemas.microsoft.com/office/drawing/2014/main" id="{C471B227-D6E7-A02C-40DC-0DD0B1DDEFD2}"/>
              </a:ext>
            </a:extLst>
          </p:cNvPr>
          <p:cNvSpPr txBox="1"/>
          <p:nvPr/>
        </p:nvSpPr>
        <p:spPr>
          <a:xfrm>
            <a:off x="2086510" y="2533929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0.003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67" name="Text 13">
            <a:extLst>
              <a:ext uri="{FF2B5EF4-FFF2-40B4-BE49-F238E27FC236}">
                <a16:creationId xmlns:a16="http://schemas.microsoft.com/office/drawing/2014/main" id="{38BEA62D-E7AB-548D-4931-BF48DDB27D4D}"/>
              </a:ext>
            </a:extLst>
          </p:cNvPr>
          <p:cNvSpPr txBox="1"/>
          <p:nvPr/>
        </p:nvSpPr>
        <p:spPr>
          <a:xfrm>
            <a:off x="2665035" y="2540845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0.005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68" name="Text 13">
            <a:extLst>
              <a:ext uri="{FF2B5EF4-FFF2-40B4-BE49-F238E27FC236}">
                <a16:creationId xmlns:a16="http://schemas.microsoft.com/office/drawing/2014/main" id="{16CAC123-C384-A6DE-DB69-04CFF28F8BBF}"/>
              </a:ext>
            </a:extLst>
          </p:cNvPr>
          <p:cNvSpPr txBox="1"/>
          <p:nvPr/>
        </p:nvSpPr>
        <p:spPr>
          <a:xfrm>
            <a:off x="3236077" y="2533928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0.004</a:t>
            </a:r>
            <a:endParaRPr lang="en-US" sz="1400" dirty="0">
              <a:solidFill>
                <a:srgbClr val="2D3748"/>
              </a:solidFill>
            </a:endParaRPr>
          </a:p>
        </p:txBody>
      </p:sp>
      <p:pic>
        <p:nvPicPr>
          <p:cNvPr id="169" name="Picture 19">
            <a:extLst>
              <a:ext uri="{FF2B5EF4-FFF2-40B4-BE49-F238E27FC236}">
                <a16:creationId xmlns:a16="http://schemas.microsoft.com/office/drawing/2014/main" id="{0C4B04B1-9FC2-1B51-1D86-971C89A0691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" r="76680" b="-149996"/>
          <a:stretch>
            <a:fillRect/>
          </a:stretch>
        </p:blipFill>
        <p:spPr>
          <a:xfrm>
            <a:off x="614477" y="3678582"/>
            <a:ext cx="3072152" cy="90234"/>
          </a:xfrm>
          <a:prstGeom prst="rect">
            <a:avLst/>
          </a:prstGeom>
        </p:spPr>
      </p:pic>
      <p:pic>
        <p:nvPicPr>
          <p:cNvPr id="170" name="Picture 19">
            <a:extLst>
              <a:ext uri="{FF2B5EF4-FFF2-40B4-BE49-F238E27FC236}">
                <a16:creationId xmlns:a16="http://schemas.microsoft.com/office/drawing/2014/main" id="{81EF4C15-B35A-6A81-FEEA-452F1E04DA7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" r="76680" b="-149996"/>
          <a:stretch>
            <a:fillRect/>
          </a:stretch>
        </p:blipFill>
        <p:spPr>
          <a:xfrm>
            <a:off x="4503079" y="3657007"/>
            <a:ext cx="3072152" cy="90234"/>
          </a:xfrm>
          <a:prstGeom prst="rect">
            <a:avLst/>
          </a:prstGeom>
        </p:spPr>
      </p:pic>
      <p:pic>
        <p:nvPicPr>
          <p:cNvPr id="171" name="Picture 19">
            <a:extLst>
              <a:ext uri="{FF2B5EF4-FFF2-40B4-BE49-F238E27FC236}">
                <a16:creationId xmlns:a16="http://schemas.microsoft.com/office/drawing/2014/main" id="{F01E992F-5A47-F4BA-1356-D6765F1E499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" r="76680" b="-149996"/>
          <a:stretch>
            <a:fillRect/>
          </a:stretch>
        </p:blipFill>
        <p:spPr>
          <a:xfrm>
            <a:off x="8436603" y="3635036"/>
            <a:ext cx="3072152" cy="90234"/>
          </a:xfrm>
          <a:prstGeom prst="rect">
            <a:avLst/>
          </a:prstGeom>
        </p:spPr>
      </p:pic>
      <p:sp>
        <p:nvSpPr>
          <p:cNvPr id="172" name="Text 13">
            <a:extLst>
              <a:ext uri="{FF2B5EF4-FFF2-40B4-BE49-F238E27FC236}">
                <a16:creationId xmlns:a16="http://schemas.microsoft.com/office/drawing/2014/main" id="{42929F36-93A5-A9AE-DFD9-530A53B12995}"/>
              </a:ext>
            </a:extLst>
          </p:cNvPr>
          <p:cNvSpPr txBox="1"/>
          <p:nvPr/>
        </p:nvSpPr>
        <p:spPr>
          <a:xfrm>
            <a:off x="6462871" y="2275981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0.120</a:t>
            </a:r>
            <a:endParaRPr lang="en-US" sz="1400" dirty="0"/>
          </a:p>
        </p:txBody>
      </p:sp>
      <p:sp>
        <p:nvSpPr>
          <p:cNvPr id="173" name="Text 13">
            <a:extLst>
              <a:ext uri="{FF2B5EF4-FFF2-40B4-BE49-F238E27FC236}">
                <a16:creationId xmlns:a16="http://schemas.microsoft.com/office/drawing/2014/main" id="{B2E9F502-B10C-E465-92A8-CC14B57407A5}"/>
              </a:ext>
            </a:extLst>
          </p:cNvPr>
          <p:cNvSpPr txBox="1"/>
          <p:nvPr/>
        </p:nvSpPr>
        <p:spPr>
          <a:xfrm>
            <a:off x="10379080" y="2273170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0.537</a:t>
            </a:r>
            <a:endParaRPr lang="en-US" sz="1400" dirty="0"/>
          </a:p>
        </p:txBody>
      </p:sp>
      <p:sp>
        <p:nvSpPr>
          <p:cNvPr id="174" name="Text 13">
            <a:extLst>
              <a:ext uri="{FF2B5EF4-FFF2-40B4-BE49-F238E27FC236}">
                <a16:creationId xmlns:a16="http://schemas.microsoft.com/office/drawing/2014/main" id="{F54D1E22-062E-765B-59A1-2A0C6CAF532A}"/>
              </a:ext>
            </a:extLst>
          </p:cNvPr>
          <p:cNvSpPr txBox="1"/>
          <p:nvPr/>
        </p:nvSpPr>
        <p:spPr>
          <a:xfrm>
            <a:off x="2085757" y="2788827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0.233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75" name="Text 13">
            <a:extLst>
              <a:ext uri="{FF2B5EF4-FFF2-40B4-BE49-F238E27FC236}">
                <a16:creationId xmlns:a16="http://schemas.microsoft.com/office/drawing/2014/main" id="{D36D9C36-1902-B376-EF00-72A547B8D5D4}"/>
              </a:ext>
            </a:extLst>
          </p:cNvPr>
          <p:cNvSpPr txBox="1"/>
          <p:nvPr/>
        </p:nvSpPr>
        <p:spPr>
          <a:xfrm>
            <a:off x="2664282" y="2781229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0.233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76" name="Text 13">
            <a:extLst>
              <a:ext uri="{FF2B5EF4-FFF2-40B4-BE49-F238E27FC236}">
                <a16:creationId xmlns:a16="http://schemas.microsoft.com/office/drawing/2014/main" id="{4567EAC2-D548-3FF3-AF8B-97E5CFDCF64A}"/>
              </a:ext>
            </a:extLst>
          </p:cNvPr>
          <p:cNvSpPr txBox="1"/>
          <p:nvPr/>
        </p:nvSpPr>
        <p:spPr>
          <a:xfrm>
            <a:off x="3235324" y="2788826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0.233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77" name="Text 13">
            <a:extLst>
              <a:ext uri="{FF2B5EF4-FFF2-40B4-BE49-F238E27FC236}">
                <a16:creationId xmlns:a16="http://schemas.microsoft.com/office/drawing/2014/main" id="{B43DE97A-E1BF-1528-86BA-0BF6166C083B}"/>
              </a:ext>
            </a:extLst>
          </p:cNvPr>
          <p:cNvSpPr txBox="1"/>
          <p:nvPr/>
        </p:nvSpPr>
        <p:spPr>
          <a:xfrm>
            <a:off x="2093016" y="3028313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0.008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78" name="Text 13">
            <a:extLst>
              <a:ext uri="{FF2B5EF4-FFF2-40B4-BE49-F238E27FC236}">
                <a16:creationId xmlns:a16="http://schemas.microsoft.com/office/drawing/2014/main" id="{744F9075-0933-97FC-3DFC-C3C1DE9BB6CB}"/>
              </a:ext>
            </a:extLst>
          </p:cNvPr>
          <p:cNvSpPr txBox="1"/>
          <p:nvPr/>
        </p:nvSpPr>
        <p:spPr>
          <a:xfrm>
            <a:off x="2671541" y="3035229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0.009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79" name="Text 13">
            <a:extLst>
              <a:ext uri="{FF2B5EF4-FFF2-40B4-BE49-F238E27FC236}">
                <a16:creationId xmlns:a16="http://schemas.microsoft.com/office/drawing/2014/main" id="{7B451CA5-4980-591F-E19A-2F3EE7B9D425}"/>
              </a:ext>
            </a:extLst>
          </p:cNvPr>
          <p:cNvSpPr txBox="1"/>
          <p:nvPr/>
        </p:nvSpPr>
        <p:spPr>
          <a:xfrm>
            <a:off x="3242583" y="3028312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0.009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0" name="Text 12">
            <a:extLst>
              <a:ext uri="{FF2B5EF4-FFF2-40B4-BE49-F238E27FC236}">
                <a16:creationId xmlns:a16="http://schemas.microsoft.com/office/drawing/2014/main" id="{3DA3F63B-82CE-9C6E-73C6-152AB8224278}"/>
              </a:ext>
            </a:extLst>
          </p:cNvPr>
          <p:cNvSpPr txBox="1"/>
          <p:nvPr/>
        </p:nvSpPr>
        <p:spPr>
          <a:xfrm>
            <a:off x="2190902" y="3414549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Mean         Pool          M&amp;P</a:t>
            </a:r>
            <a:endParaRPr lang="en-US" sz="1000" dirty="0"/>
          </a:p>
        </p:txBody>
      </p:sp>
      <p:sp>
        <p:nvSpPr>
          <p:cNvPr id="181" name="Text 13">
            <a:extLst>
              <a:ext uri="{FF2B5EF4-FFF2-40B4-BE49-F238E27FC236}">
                <a16:creationId xmlns:a16="http://schemas.microsoft.com/office/drawing/2014/main" id="{57924FE7-DFD2-7D50-F039-8AC37B2CFEB7}"/>
              </a:ext>
            </a:extLst>
          </p:cNvPr>
          <p:cNvSpPr txBox="1"/>
          <p:nvPr/>
        </p:nvSpPr>
        <p:spPr>
          <a:xfrm>
            <a:off x="6467294" y="2528649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0.004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2" name="Text 13">
            <a:extLst>
              <a:ext uri="{FF2B5EF4-FFF2-40B4-BE49-F238E27FC236}">
                <a16:creationId xmlns:a16="http://schemas.microsoft.com/office/drawing/2014/main" id="{5DDEBE83-D8DA-F12E-7082-7E3CB809FE77}"/>
              </a:ext>
            </a:extLst>
          </p:cNvPr>
          <p:cNvSpPr txBox="1"/>
          <p:nvPr/>
        </p:nvSpPr>
        <p:spPr>
          <a:xfrm>
            <a:off x="6466541" y="2783547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0.286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3" name="Text 13">
            <a:extLst>
              <a:ext uri="{FF2B5EF4-FFF2-40B4-BE49-F238E27FC236}">
                <a16:creationId xmlns:a16="http://schemas.microsoft.com/office/drawing/2014/main" id="{178ADA9B-CB28-262F-9390-35D8D439148B}"/>
              </a:ext>
            </a:extLst>
          </p:cNvPr>
          <p:cNvSpPr txBox="1"/>
          <p:nvPr/>
        </p:nvSpPr>
        <p:spPr>
          <a:xfrm>
            <a:off x="6473800" y="3023033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0.008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4" name="Text 13">
            <a:extLst>
              <a:ext uri="{FF2B5EF4-FFF2-40B4-BE49-F238E27FC236}">
                <a16:creationId xmlns:a16="http://schemas.microsoft.com/office/drawing/2014/main" id="{554EF6E5-5081-B278-B7B3-52B3840A14CC}"/>
              </a:ext>
            </a:extLst>
          </p:cNvPr>
          <p:cNvSpPr txBox="1"/>
          <p:nvPr/>
        </p:nvSpPr>
        <p:spPr>
          <a:xfrm>
            <a:off x="10379080" y="2540481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0.877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5" name="Text 13">
            <a:extLst>
              <a:ext uri="{FF2B5EF4-FFF2-40B4-BE49-F238E27FC236}">
                <a16:creationId xmlns:a16="http://schemas.microsoft.com/office/drawing/2014/main" id="{AFF66377-5293-7EC4-C46E-E5007532AD88}"/>
              </a:ext>
            </a:extLst>
          </p:cNvPr>
          <p:cNvSpPr txBox="1"/>
          <p:nvPr/>
        </p:nvSpPr>
        <p:spPr>
          <a:xfrm>
            <a:off x="10378327" y="2795379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0.282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6" name="Text 13">
            <a:extLst>
              <a:ext uri="{FF2B5EF4-FFF2-40B4-BE49-F238E27FC236}">
                <a16:creationId xmlns:a16="http://schemas.microsoft.com/office/drawing/2014/main" id="{D46C091C-7374-6826-4944-8A7AD3C5A64B}"/>
              </a:ext>
            </a:extLst>
          </p:cNvPr>
          <p:cNvSpPr txBox="1"/>
          <p:nvPr/>
        </p:nvSpPr>
        <p:spPr>
          <a:xfrm>
            <a:off x="10385586" y="3049379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0.427</a:t>
            </a:r>
            <a:endParaRPr lang="en-US" sz="1400" dirty="0">
              <a:solidFill>
                <a:srgbClr val="2D3748"/>
              </a:solidFill>
            </a:endParaRPr>
          </a:p>
        </p:txBody>
      </p:sp>
      <p:pic>
        <p:nvPicPr>
          <p:cNvPr id="188" name="그림 187">
            <a:extLst>
              <a:ext uri="{FF2B5EF4-FFF2-40B4-BE49-F238E27FC236}">
                <a16:creationId xmlns:a16="http://schemas.microsoft.com/office/drawing/2014/main" id="{84B7143C-2293-21EF-ED31-27953916D18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167" t="10074" r="2592" b="2921"/>
          <a:stretch>
            <a:fillRect/>
          </a:stretch>
        </p:blipFill>
        <p:spPr>
          <a:xfrm>
            <a:off x="8334632" y="3854204"/>
            <a:ext cx="3403914" cy="1263776"/>
          </a:xfrm>
          <a:prstGeom prst="rect">
            <a:avLst/>
          </a:prstGeom>
        </p:spPr>
      </p:pic>
      <p:pic>
        <p:nvPicPr>
          <p:cNvPr id="190" name="그림 189">
            <a:extLst>
              <a:ext uri="{FF2B5EF4-FFF2-40B4-BE49-F238E27FC236}">
                <a16:creationId xmlns:a16="http://schemas.microsoft.com/office/drawing/2014/main" id="{D853267F-1B7F-C31F-97FE-8CE6B035834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190" t="10626" r="2500" b="2544"/>
          <a:stretch>
            <a:fillRect/>
          </a:stretch>
        </p:blipFill>
        <p:spPr>
          <a:xfrm>
            <a:off x="461209" y="3907150"/>
            <a:ext cx="3505811" cy="1305470"/>
          </a:xfrm>
          <a:prstGeom prst="rect">
            <a:avLst/>
          </a:prstGeom>
        </p:spPr>
      </p:pic>
      <p:pic>
        <p:nvPicPr>
          <p:cNvPr id="192" name="그림 191">
            <a:extLst>
              <a:ext uri="{FF2B5EF4-FFF2-40B4-BE49-F238E27FC236}">
                <a16:creationId xmlns:a16="http://schemas.microsoft.com/office/drawing/2014/main" id="{FC324E11-2C74-1A34-C346-36BBCD21A81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185" t="10572" r="2500" b="2517"/>
          <a:stretch>
            <a:fillRect/>
          </a:stretch>
        </p:blipFill>
        <p:spPr>
          <a:xfrm>
            <a:off x="4476902" y="3908513"/>
            <a:ext cx="3282731" cy="1229564"/>
          </a:xfrm>
          <a:prstGeom prst="rect">
            <a:avLst/>
          </a:prstGeom>
        </p:spPr>
      </p:pic>
      <p:pic>
        <p:nvPicPr>
          <p:cNvPr id="193" name="그림 192">
            <a:extLst>
              <a:ext uri="{FF2B5EF4-FFF2-40B4-BE49-F238E27FC236}">
                <a16:creationId xmlns:a16="http://schemas.microsoft.com/office/drawing/2014/main" id="{41E2EE94-85A1-ADB7-C117-CBDCF5CB652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00046" y="4899255"/>
            <a:ext cx="418420" cy="100428"/>
          </a:xfrm>
          <a:prstGeom prst="rect">
            <a:avLst/>
          </a:prstGeom>
        </p:spPr>
      </p:pic>
      <p:pic>
        <p:nvPicPr>
          <p:cNvPr id="194" name="그림 193">
            <a:extLst>
              <a:ext uri="{FF2B5EF4-FFF2-40B4-BE49-F238E27FC236}">
                <a16:creationId xmlns:a16="http://schemas.microsoft.com/office/drawing/2014/main" id="{BADDA674-A34C-50AD-3DBA-6556FB0824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4981" y="4939151"/>
            <a:ext cx="418420" cy="120849"/>
          </a:xfrm>
          <a:prstGeom prst="rect">
            <a:avLst/>
          </a:prstGeom>
        </p:spPr>
      </p:pic>
      <p:pic>
        <p:nvPicPr>
          <p:cNvPr id="195" name="그림 194">
            <a:extLst>
              <a:ext uri="{FF2B5EF4-FFF2-40B4-BE49-F238E27FC236}">
                <a16:creationId xmlns:a16="http://schemas.microsoft.com/office/drawing/2014/main" id="{8628AE48-CE91-88DF-8415-06CB5E02FA7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53737" y="4863844"/>
            <a:ext cx="418420" cy="955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821F9D7-6DE4-757A-19AB-A1981544E2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24309" y="5193236"/>
            <a:ext cx="828791" cy="20957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1D582A-D339-65A5-C460-BBCCCCE02E8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87898" y="5111224"/>
            <a:ext cx="828791" cy="2095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445724D-5E31-FFCD-E680-E8E987BD262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3295" y="5095864"/>
            <a:ext cx="828791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8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227"/>
    </mc:Choice>
    <mc:Fallback xmlns="">
      <p:transition spd="slow" advTm="17422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1333195"/>
            <a:ext cx="11449202" cy="3066898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4667098"/>
            <a:ext cx="2734056" cy="1447495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86354" y="4667098"/>
            <a:ext cx="2734056" cy="1447495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191402" y="4667098"/>
            <a:ext cx="2734056" cy="1447495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096451" y="4667098"/>
            <a:ext cx="2734056" cy="1447495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61695" y="2381098"/>
            <a:ext cx="1561795" cy="990295"/>
          </a:xfrm>
          <a:prstGeom prst="roundRect">
            <a:avLst>
              <a:gd name="adj" fmla="val 14206"/>
            </a:avLst>
          </a:prstGeom>
          <a:solidFill>
            <a:srgbClr val="FFFFFF"/>
          </a:solidFill>
          <a:ln w="254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320" b="-320"/>
          <a:stretch/>
        </p:blipFill>
        <p:spPr>
          <a:xfrm>
            <a:off x="2286000" y="2838298"/>
            <a:ext cx="286207" cy="38405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379" r="-379"/>
          <a:stretch/>
        </p:blipFill>
        <p:spPr>
          <a:xfrm>
            <a:off x="2572207" y="2333549"/>
            <a:ext cx="38405" cy="1086307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2572207" y="2333549"/>
            <a:ext cx="476402" cy="38405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2572207" y="3381451"/>
            <a:ext cx="476402" cy="3840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047695" y="1904695"/>
            <a:ext cx="2305202" cy="905256"/>
          </a:xfrm>
          <a:prstGeom prst="roundRect">
            <a:avLst>
              <a:gd name="adj" fmla="val 12759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  <a:effectLst>
            <a:outerShdw blurRad="63500" dist="38100" dir="16200000" algn="bl" rotWithShape="0">
              <a:srgbClr val="2B6CB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3047695" y="1904695"/>
            <a:ext cx="2305202" cy="38405"/>
          </a:xfrm>
          <a:prstGeom prst="roundRect">
            <a:avLst>
              <a:gd name="adj" fmla="val 300750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3047695" y="2952598"/>
            <a:ext cx="2305202" cy="905256"/>
          </a:xfrm>
          <a:prstGeom prst="roundRect">
            <a:avLst>
              <a:gd name="adj" fmla="val 1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3047695" y="2952598"/>
            <a:ext cx="2305202" cy="38405"/>
          </a:xfrm>
          <a:prstGeom prst="roundRect">
            <a:avLst>
              <a:gd name="adj" fmla="val 300750"/>
            </a:avLst>
          </a:prstGeom>
          <a:solidFill>
            <a:srgbClr val="718096"/>
          </a:solidFill>
          <a:ln w="12700">
            <a:solidFill>
              <a:srgbClr val="7180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5333695" y="2333549"/>
            <a:ext cx="381305" cy="3840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5333695" y="3381451"/>
            <a:ext cx="381305" cy="38405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rcRect l="-379" r="-379"/>
          <a:stretch/>
        </p:blipFill>
        <p:spPr>
          <a:xfrm>
            <a:off x="5715000" y="2333549"/>
            <a:ext cx="38405" cy="1086307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rcRect t="-450" b="-450"/>
          <a:stretch/>
        </p:blipFill>
        <p:spPr>
          <a:xfrm>
            <a:off x="5715000" y="2857500"/>
            <a:ext cx="304495" cy="38405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6096305" y="2381098"/>
            <a:ext cx="1733702" cy="972007"/>
          </a:xfrm>
          <a:prstGeom prst="roundRect">
            <a:avLst>
              <a:gd name="adj" fmla="val 14757"/>
            </a:avLst>
          </a:prstGeom>
          <a:solidFill>
            <a:srgbClr val="E6FFFA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8"/>
          <a:srcRect t="-424" b="-424"/>
          <a:stretch/>
        </p:blipFill>
        <p:spPr>
          <a:xfrm>
            <a:off x="7810805" y="2857500"/>
            <a:ext cx="809244" cy="38405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9"/>
          <a:srcRect l="-20" r="-20"/>
          <a:stretch/>
        </p:blipFill>
        <p:spPr>
          <a:xfrm>
            <a:off x="8667598" y="2190902"/>
            <a:ext cx="2572207" cy="1543507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5619902" y="2743200"/>
            <a:ext cx="267005" cy="2670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0"/>
          <a:srcRect l="-2089" r="-2089"/>
          <a:stretch/>
        </p:blipFill>
        <p:spPr>
          <a:xfrm>
            <a:off x="8858707" y="2952598"/>
            <a:ext cx="2190902" cy="9144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381305" y="190195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Part10. 실험④ GNN (2-stage) – 하이브리드 고도화</a:t>
            </a:r>
            <a:endParaRPr lang="en-US" sz="2100" dirty="0"/>
          </a:p>
        </p:txBody>
      </p:sp>
      <p:sp>
        <p:nvSpPr>
          <p:cNvPr id="29" name="Text 16"/>
          <p:cNvSpPr txBox="1"/>
          <p:nvPr/>
        </p:nvSpPr>
        <p:spPr>
          <a:xfrm>
            <a:off x="381305" y="905256"/>
            <a:ext cx="11621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GNN의 관계 표현력</a:t>
            </a: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3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XGBoost의 정밀 분류 성능</a:t>
            </a: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결합하여 실무 운영 가능한 수준의 탐지 모델을 완성합니다.</a:t>
            </a:r>
            <a:endParaRPr lang="en-US" sz="1300" dirty="0"/>
          </a:p>
        </p:txBody>
      </p:sp>
      <p:sp>
        <p:nvSpPr>
          <p:cNvPr id="30" name="Text 17"/>
          <p:cNvSpPr txBox="1"/>
          <p:nvPr/>
        </p:nvSpPr>
        <p:spPr>
          <a:xfrm>
            <a:off x="819302" y="1476756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2-Stage 하이브리드 파이프라인</a:t>
            </a:r>
            <a:endParaRPr lang="en-US" sz="12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571500" y="1524305"/>
            <a:ext cx="171907" cy="152705"/>
          </a:xfrm>
          <a:prstGeom prst="rect">
            <a:avLst/>
          </a:prstGeom>
        </p:spPr>
      </p:pic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2"/>
          <a:srcRect l="-107" r="-107"/>
          <a:stretch/>
        </p:blipFill>
        <p:spPr>
          <a:xfrm>
            <a:off x="1390802" y="2562149"/>
            <a:ext cx="267005" cy="304495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828446" y="2952598"/>
            <a:ext cx="13908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(Graph &amp; Node)</a:t>
            </a:r>
            <a:endParaRPr lang="en-US" sz="10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971800" y="2262226"/>
            <a:ext cx="95098" cy="190195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971800" y="3310128"/>
            <a:ext cx="95098" cy="190195"/>
          </a:xfrm>
          <a:prstGeom prst="rect">
            <a:avLst/>
          </a:prstGeom>
        </p:spPr>
      </p:pic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191256" y="2061972"/>
            <a:ext cx="237744" cy="190195"/>
          </a:xfrm>
          <a:prstGeom prst="rect">
            <a:avLst/>
          </a:prstGeom>
        </p:spPr>
      </p:pic>
      <p:sp>
        <p:nvSpPr>
          <p:cNvPr id="37" name="Text 19"/>
          <p:cNvSpPr txBox="1"/>
          <p:nvPr/>
        </p:nvSpPr>
        <p:spPr>
          <a:xfrm>
            <a:off x="3476549" y="2048256"/>
            <a:ext cx="18662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1 (Embedding)</a:t>
            </a:r>
            <a:endParaRPr lang="en-US" sz="1200" dirty="0"/>
          </a:p>
        </p:txBody>
      </p:sp>
      <p:sp>
        <p:nvSpPr>
          <p:cNvPr id="38" name="Text 20"/>
          <p:cNvSpPr txBox="1"/>
          <p:nvPr/>
        </p:nvSpPr>
        <p:spPr>
          <a:xfrm>
            <a:off x="3191256" y="2333549"/>
            <a:ext cx="21241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학습된 GNN 인코더 가중치 </a:t>
            </a:r>
            <a:r>
              <a:rPr lang="en-US" sz="9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고정(Freeze)</a:t>
            </a: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후 관계 임베딩 추출</a:t>
            </a:r>
            <a:endParaRPr lang="en-US" sz="900" dirty="0"/>
          </a:p>
        </p:txBody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191256" y="3109874"/>
            <a:ext cx="190195" cy="190195"/>
          </a:xfrm>
          <a:prstGeom prst="rect">
            <a:avLst/>
          </a:prstGeom>
        </p:spPr>
      </p:pic>
      <p:sp>
        <p:nvSpPr>
          <p:cNvPr id="40" name="Text 21"/>
          <p:cNvSpPr txBox="1"/>
          <p:nvPr/>
        </p:nvSpPr>
        <p:spPr>
          <a:xfrm>
            <a:off x="3476549" y="3095244"/>
            <a:ext cx="183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Stats</a:t>
            </a:r>
            <a:endParaRPr lang="en-US" sz="1200" dirty="0"/>
          </a:p>
        </p:txBody>
      </p:sp>
      <p:sp>
        <p:nvSpPr>
          <p:cNvPr id="41" name="Text 22"/>
          <p:cNvSpPr txBox="1"/>
          <p:nvPr/>
        </p:nvSpPr>
        <p:spPr>
          <a:xfrm>
            <a:off x="3191256" y="3381451"/>
            <a:ext cx="21241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ML에서 설계된 계좌 </a:t>
            </a:r>
            <a:r>
              <a:rPr lang="en-US" sz="9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단위의</a:t>
            </a: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9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</a:t>
            </a: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통계 </a:t>
            </a:r>
            <a:r>
              <a:rPr lang="en-US" sz="9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</a:t>
            </a: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</a:t>
            </a:r>
            <a:r>
              <a:rPr lang="ko-KR" alt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</a:t>
            </a: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40종)</a:t>
            </a:r>
            <a:endParaRPr lang="en-US" sz="900" dirty="0"/>
          </a:p>
        </p:txBody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5682082" y="2800807"/>
            <a:ext cx="105156" cy="114300"/>
          </a:xfrm>
          <a:prstGeom prst="rect">
            <a:avLst/>
          </a:prstGeom>
        </p:spPr>
      </p:pic>
      <p:pic>
        <p:nvPicPr>
          <p:cNvPr id="43" name="Image 18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943600" y="2786177"/>
            <a:ext cx="95098" cy="190195"/>
          </a:xfrm>
          <a:prstGeom prst="rect">
            <a:avLst/>
          </a:prstGeom>
        </p:spPr>
      </p:pic>
      <p:pic>
        <p:nvPicPr>
          <p:cNvPr id="44" name="Image 19" descr="preencoded.png"/>
          <p:cNvPicPr>
            <a:picLocks noChangeAspect="1"/>
          </p:cNvPicPr>
          <p:nvPr/>
        </p:nvPicPr>
        <p:blipFill>
          <a:blip r:embed="rId17"/>
          <a:srcRect t="-45" b="-45"/>
          <a:stretch/>
        </p:blipFill>
        <p:spPr>
          <a:xfrm>
            <a:off x="6825082" y="2553005"/>
            <a:ext cx="256946" cy="228600"/>
          </a:xfrm>
          <a:prstGeom prst="rect">
            <a:avLst/>
          </a:prstGeom>
        </p:spPr>
      </p:pic>
      <p:sp>
        <p:nvSpPr>
          <p:cNvPr id="45" name="Text 23"/>
          <p:cNvSpPr txBox="1"/>
          <p:nvPr/>
        </p:nvSpPr>
        <p:spPr>
          <a:xfrm>
            <a:off x="6160313" y="2892349"/>
            <a:ext cx="158557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4E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피처 벡터</a:t>
            </a:r>
            <a:endParaRPr lang="en-US" sz="11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34E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(Relation + Stats)</a:t>
            </a:r>
            <a:endParaRPr lang="en-US" sz="1100" dirty="0"/>
          </a:p>
        </p:txBody>
      </p:sp>
      <p:pic>
        <p:nvPicPr>
          <p:cNvPr id="46" name="Image 2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544154" y="2786177"/>
            <a:ext cx="95098" cy="190195"/>
          </a:xfrm>
          <a:prstGeom prst="rect">
            <a:avLst/>
          </a:prstGeom>
        </p:spPr>
      </p:pic>
      <p:pic>
        <p:nvPicPr>
          <p:cNvPr id="47" name="Image 21" descr="preencoded.png"/>
          <p:cNvPicPr>
            <a:picLocks noChangeAspect="1"/>
          </p:cNvPicPr>
          <p:nvPr/>
        </p:nvPicPr>
        <p:blipFill>
          <a:blip r:embed="rId18"/>
          <a:srcRect l="-57" r="-57"/>
          <a:stretch/>
        </p:blipFill>
        <p:spPr>
          <a:xfrm>
            <a:off x="8900770" y="2409444"/>
            <a:ext cx="200254" cy="228600"/>
          </a:xfrm>
          <a:prstGeom prst="rect">
            <a:avLst/>
          </a:prstGeom>
        </p:spPr>
      </p:pic>
      <p:sp>
        <p:nvSpPr>
          <p:cNvPr id="48" name="Text 24"/>
          <p:cNvSpPr txBox="1"/>
          <p:nvPr/>
        </p:nvSpPr>
        <p:spPr>
          <a:xfrm>
            <a:off x="9239098" y="2381098"/>
            <a:ext cx="19815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2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(Classification)</a:t>
            </a:r>
            <a:endParaRPr lang="en-US" sz="1300" dirty="0"/>
          </a:p>
        </p:txBody>
      </p:sp>
      <p:sp>
        <p:nvSpPr>
          <p:cNvPr id="49" name="Text 25"/>
          <p:cNvSpPr txBox="1"/>
          <p:nvPr/>
        </p:nvSpPr>
        <p:spPr>
          <a:xfrm>
            <a:off x="8858707" y="3047695"/>
            <a:ext cx="22786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 하이브리드 분류기</a:t>
            </a:r>
            <a:endParaRPr lang="en-US" sz="1100" dirty="0"/>
          </a:p>
        </p:txBody>
      </p:sp>
      <p:sp>
        <p:nvSpPr>
          <p:cNvPr id="50" name="Text 26"/>
          <p:cNvSpPr txBox="1"/>
          <p:nvPr/>
        </p:nvSpPr>
        <p:spPr>
          <a:xfrm>
            <a:off x="8858707" y="3295498"/>
            <a:ext cx="22677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"관계 구조는 신경망이 요약하고, 최종 의사결정은 트리 모델이 수행"</a:t>
            </a:r>
            <a:endParaRPr lang="en-US" sz="900" dirty="0"/>
          </a:p>
        </p:txBody>
      </p:sp>
      <p:pic>
        <p:nvPicPr>
          <p:cNvPr id="51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95740" y="4860259"/>
            <a:ext cx="228600" cy="228600"/>
          </a:xfrm>
          <a:prstGeom prst="rect">
            <a:avLst/>
          </a:prstGeom>
        </p:spPr>
      </p:pic>
      <p:sp>
        <p:nvSpPr>
          <p:cNvPr id="52" name="Text 27"/>
          <p:cNvSpPr txBox="1"/>
          <p:nvPr/>
        </p:nvSpPr>
        <p:spPr>
          <a:xfrm>
            <a:off x="781440" y="4707402"/>
            <a:ext cx="23783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오버스무딩(Over-smoothing) 해결</a:t>
            </a:r>
            <a:endParaRPr lang="en-US" sz="1100" dirty="0"/>
          </a:p>
        </p:txBody>
      </p:sp>
      <p:sp>
        <p:nvSpPr>
          <p:cNvPr id="53" name="Text 28"/>
          <p:cNvSpPr txBox="1"/>
          <p:nvPr/>
        </p:nvSpPr>
        <p:spPr>
          <a:xfrm>
            <a:off x="571500" y="5238598"/>
            <a:ext cx="24103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GNN 레이어가 깊어질 때 노드별 </a:t>
            </a: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특성과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변별력이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상실되는 고질적인 </a:t>
            </a: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문제를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사전에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방지하고 고유성을 유지합니다.</a:t>
            </a:r>
            <a:endParaRPr lang="en-US" sz="1000" dirty="0"/>
          </a:p>
        </p:txBody>
      </p:sp>
      <p:pic>
        <p:nvPicPr>
          <p:cNvPr id="54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3504895" y="4886554"/>
            <a:ext cx="228600" cy="228600"/>
          </a:xfrm>
          <a:prstGeom prst="rect">
            <a:avLst/>
          </a:prstGeom>
        </p:spPr>
      </p:pic>
      <p:sp>
        <p:nvSpPr>
          <p:cNvPr id="55" name="Text 29"/>
          <p:cNvSpPr txBox="1"/>
          <p:nvPr/>
        </p:nvSpPr>
        <p:spPr>
          <a:xfrm>
            <a:off x="3857854" y="4858207"/>
            <a:ext cx="221193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비선형 판단력 극대화</a:t>
            </a:r>
            <a:endParaRPr lang="en-US" sz="1200" dirty="0"/>
          </a:p>
        </p:txBody>
      </p:sp>
      <p:sp>
        <p:nvSpPr>
          <p:cNvPr id="56" name="Text 30"/>
          <p:cNvSpPr txBox="1"/>
          <p:nvPr/>
        </p:nvSpPr>
        <p:spPr>
          <a:xfrm>
            <a:off x="3476549" y="5238598"/>
            <a:ext cx="24103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MLP 디코더보다 더 정교한 결정 경계면(Decision Boundary)을 찾아내는 트리 기반 모델의 강점을 활용합니다.</a:t>
            </a:r>
            <a:endParaRPr lang="en-US" sz="1000" dirty="0"/>
          </a:p>
        </p:txBody>
      </p:sp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6409944" y="4886554"/>
            <a:ext cx="228600" cy="228600"/>
          </a:xfrm>
          <a:prstGeom prst="rect">
            <a:avLst/>
          </a:prstGeom>
        </p:spPr>
      </p:pic>
      <p:sp>
        <p:nvSpPr>
          <p:cNvPr id="58" name="Text 31"/>
          <p:cNvSpPr txBox="1"/>
          <p:nvPr/>
        </p:nvSpPr>
        <p:spPr>
          <a:xfrm>
            <a:off x="6762902" y="4858207"/>
            <a:ext cx="221193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안정성 및 해석력 확보</a:t>
            </a:r>
            <a:endParaRPr lang="en-US" sz="1200" dirty="0"/>
          </a:p>
        </p:txBody>
      </p:sp>
      <p:sp>
        <p:nvSpPr>
          <p:cNvPr id="59" name="Text 32"/>
          <p:cNvSpPr txBox="1"/>
          <p:nvPr/>
        </p:nvSpPr>
        <p:spPr>
          <a:xfrm>
            <a:off x="6445098" y="5238598"/>
            <a:ext cx="24103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불균형에 강한 파라미터 </a:t>
            </a: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제어가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용이하며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피처 중요도(Gain) 분석을 </a:t>
            </a: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블랙박스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모델의 한계를 보완합니다.</a:t>
            </a:r>
            <a:endParaRPr lang="en-US" sz="1000" dirty="0"/>
          </a:p>
        </p:txBody>
      </p:sp>
      <p:pic>
        <p:nvPicPr>
          <p:cNvPr id="60" name="Image 25" descr="preencoded.png"/>
          <p:cNvPicPr>
            <a:picLocks noChangeAspect="1"/>
          </p:cNvPicPr>
          <p:nvPr/>
        </p:nvPicPr>
        <p:blipFill>
          <a:blip r:embed="rId22"/>
          <a:srcRect l="-80" r="-80"/>
          <a:stretch/>
        </p:blipFill>
        <p:spPr>
          <a:xfrm>
            <a:off x="9286646" y="4886554"/>
            <a:ext cx="286207" cy="228600"/>
          </a:xfrm>
          <a:prstGeom prst="rect">
            <a:avLst/>
          </a:prstGeom>
        </p:spPr>
      </p:pic>
      <p:sp>
        <p:nvSpPr>
          <p:cNvPr id="61" name="Text 33"/>
          <p:cNvSpPr txBox="1"/>
          <p:nvPr/>
        </p:nvSpPr>
        <p:spPr>
          <a:xfrm>
            <a:off x="9667951" y="4858207"/>
            <a:ext cx="216072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강건성 (Robustness)</a:t>
            </a:r>
            <a:endParaRPr lang="en-US" sz="1200" dirty="0"/>
          </a:p>
        </p:txBody>
      </p:sp>
      <p:sp>
        <p:nvSpPr>
          <p:cNvPr id="62" name="Text 34"/>
          <p:cNvSpPr txBox="1"/>
          <p:nvPr/>
        </p:nvSpPr>
        <p:spPr>
          <a:xfrm>
            <a:off x="9286646" y="5238598"/>
            <a:ext cx="24103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데이터 처리에 최적화된 트리 </a:t>
            </a: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결합으로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실무 금융 데이터에 </a:t>
            </a: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존재하는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0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노이즈에 유연하게 대처합니다.</a:t>
            </a:r>
            <a:endParaRPr lang="en-US" sz="1000" dirty="0"/>
          </a:p>
        </p:txBody>
      </p:sp>
      <p:sp>
        <p:nvSpPr>
          <p:cNvPr id="63" name="Text 35"/>
          <p:cNvSpPr txBox="1"/>
          <p:nvPr/>
        </p:nvSpPr>
        <p:spPr>
          <a:xfrm>
            <a:off x="267005" y="6476695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64" name="Image 1">
            <a:extLst>
              <a:ext uri="{FF2B5EF4-FFF2-40B4-BE49-F238E27FC236}">
                <a16:creationId xmlns:a16="http://schemas.microsoft.com/office/drawing/2014/main" id="{87315CF6-DFED-11E8-5317-829BBEA1FD9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66" name="TextBox 7">
            <a:extLst>
              <a:ext uri="{FF2B5EF4-FFF2-40B4-BE49-F238E27FC236}">
                <a16:creationId xmlns:a16="http://schemas.microsoft.com/office/drawing/2014/main" id="{16B52586-7162-4F9C-D238-FB2696CA4FC1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195"/>
    </mc:Choice>
    <mc:Fallback xmlns="">
      <p:transition spd="slow" advTm="7019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C93BE-B3CA-B890-19C6-58EF68443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A89C05-E14C-C111-E891-C16C23F5419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89A3BF8-7589-19CE-3DB0-2E8C46967D5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7" name="Image 0" descr="preencoded.png">
            <a:extLst>
              <a:ext uri="{FF2B5EF4-FFF2-40B4-BE49-F238E27FC236}">
                <a16:creationId xmlns:a16="http://schemas.microsoft.com/office/drawing/2014/main" id="{5C084958-9094-C5B9-C8F7-5D70DF593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8191195" y="1051227"/>
            <a:ext cx="3657600" cy="5249349"/>
          </a:xfrm>
          <a:prstGeom prst="rect">
            <a:avLst/>
          </a:prstGeom>
        </p:spPr>
      </p:pic>
      <p:sp>
        <p:nvSpPr>
          <p:cNvPr id="125" name="Shape 6">
            <a:extLst>
              <a:ext uri="{FF2B5EF4-FFF2-40B4-BE49-F238E27FC236}">
                <a16:creationId xmlns:a16="http://schemas.microsoft.com/office/drawing/2014/main" id="{14199382-9AC3-23BE-F9EE-7D3BF6756B5F}"/>
              </a:ext>
            </a:extLst>
          </p:cNvPr>
          <p:cNvSpPr/>
          <p:nvPr/>
        </p:nvSpPr>
        <p:spPr>
          <a:xfrm>
            <a:off x="4286707" y="1051228"/>
            <a:ext cx="3638398" cy="5235272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4">
            <a:extLst>
              <a:ext uri="{FF2B5EF4-FFF2-40B4-BE49-F238E27FC236}">
                <a16:creationId xmlns:a16="http://schemas.microsoft.com/office/drawing/2014/main" id="{5BB64262-03A1-1B2C-EFAA-931F68EF05EA}"/>
              </a:ext>
            </a:extLst>
          </p:cNvPr>
          <p:cNvSpPr/>
          <p:nvPr/>
        </p:nvSpPr>
        <p:spPr>
          <a:xfrm>
            <a:off x="381305" y="1051228"/>
            <a:ext cx="3638398" cy="5235272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520B606-729E-231E-3B08-ACF835E591A0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3B438AEB-D37B-88D5-289D-716A5AB3D079}"/>
              </a:ext>
            </a:extLst>
          </p:cNvPr>
          <p:cNvSpPr txBox="1"/>
          <p:nvPr/>
        </p:nvSpPr>
        <p:spPr>
          <a:xfrm>
            <a:off x="381305" y="190195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Part10. </a:t>
            </a:r>
            <a:r>
              <a:rPr lang="en-US" altLang="ko-KR" sz="21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</a:t>
            </a:r>
            <a:r>
              <a:rPr lang="en-US" altLang="ko-KR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GNN (2-stage) – </a:t>
            </a:r>
            <a:r>
              <a:rPr lang="en-US" altLang="ko-KR" sz="21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</a:t>
            </a:r>
            <a:r>
              <a:rPr lang="en-US" altLang="ko-KR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1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고도화</a:t>
            </a:r>
            <a:endParaRPr lang="en-US" altLang="ko-KR" sz="21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DCA6063-3E8D-FE90-4FC5-F8C5730CC107}"/>
              </a:ext>
            </a:extLst>
          </p:cNvPr>
          <p:cNvSpPr txBox="1"/>
          <p:nvPr/>
        </p:nvSpPr>
        <p:spPr>
          <a:xfrm>
            <a:off x="5069711" y="2330074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AUPRC</a:t>
            </a:r>
            <a:endParaRPr lang="en-US" sz="10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FA31581F-09C8-4060-8D71-1AAFDAE9AE53}"/>
              </a:ext>
            </a:extLst>
          </p:cNvPr>
          <p:cNvSpPr txBox="1"/>
          <p:nvPr/>
        </p:nvSpPr>
        <p:spPr>
          <a:xfrm>
            <a:off x="2550962" y="2245201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0.198</a:t>
            </a:r>
            <a:endParaRPr lang="en-US" sz="14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6C72ABD9-473D-ADC0-DCE8-3D681B09B99E}"/>
              </a:ext>
            </a:extLst>
          </p:cNvPr>
          <p:cNvSpPr txBox="1"/>
          <p:nvPr/>
        </p:nvSpPr>
        <p:spPr>
          <a:xfrm>
            <a:off x="5055197" y="2593631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Precision</a:t>
            </a:r>
            <a:endParaRPr lang="en-US" sz="10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6E902997-3A33-A676-26D9-90BD1D2C9976}"/>
              </a:ext>
            </a:extLst>
          </p:cNvPr>
          <p:cNvSpPr txBox="1"/>
          <p:nvPr/>
        </p:nvSpPr>
        <p:spPr>
          <a:xfrm>
            <a:off x="5055197" y="2854543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Recall</a:t>
            </a:r>
            <a:endParaRPr lang="en-US" sz="10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2BBA06B2-666C-353F-D68F-3A7DC8AA2633}"/>
              </a:ext>
            </a:extLst>
          </p:cNvPr>
          <p:cNvSpPr txBox="1"/>
          <p:nvPr/>
        </p:nvSpPr>
        <p:spPr>
          <a:xfrm>
            <a:off x="5055197" y="3118100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F1-Score</a:t>
            </a:r>
            <a:endParaRPr lang="en-US" sz="1000" dirty="0"/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EBA5F805-987A-43F2-7F4D-1348F199E42D}"/>
              </a:ext>
            </a:extLst>
          </p:cNvPr>
          <p:cNvSpPr txBox="1"/>
          <p:nvPr/>
        </p:nvSpPr>
        <p:spPr>
          <a:xfrm>
            <a:off x="267005" y="6476695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47" name="Image 1">
            <a:extLst>
              <a:ext uri="{FF2B5EF4-FFF2-40B4-BE49-F238E27FC236}">
                <a16:creationId xmlns:a16="http://schemas.microsoft.com/office/drawing/2014/main" id="{758DF844-B6BD-70DF-B2D1-1470647379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49" name="TextBox 7">
            <a:extLst>
              <a:ext uri="{FF2B5EF4-FFF2-40B4-BE49-F238E27FC236}">
                <a16:creationId xmlns:a16="http://schemas.microsoft.com/office/drawing/2014/main" id="{F3D5E922-CD04-0CD0-3106-D8A6AE9423BD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124" name="Shape 5">
            <a:extLst>
              <a:ext uri="{FF2B5EF4-FFF2-40B4-BE49-F238E27FC236}">
                <a16:creationId xmlns:a16="http://schemas.microsoft.com/office/drawing/2014/main" id="{2D917EF7-91FE-AAF0-2C59-28A8943DFAD7}"/>
              </a:ext>
            </a:extLst>
          </p:cNvPr>
          <p:cNvSpPr/>
          <p:nvPr/>
        </p:nvSpPr>
        <p:spPr>
          <a:xfrm>
            <a:off x="381305" y="1051228"/>
            <a:ext cx="3638398" cy="88685"/>
          </a:xfrm>
          <a:prstGeom prst="roundRect">
            <a:avLst>
              <a:gd name="adj" fmla="val 71140"/>
            </a:avLst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7">
            <a:extLst>
              <a:ext uri="{FF2B5EF4-FFF2-40B4-BE49-F238E27FC236}">
                <a16:creationId xmlns:a16="http://schemas.microsoft.com/office/drawing/2014/main" id="{26C92FF2-D232-F582-404E-03AE9FEE36AF}"/>
              </a:ext>
            </a:extLst>
          </p:cNvPr>
          <p:cNvSpPr/>
          <p:nvPr/>
        </p:nvSpPr>
        <p:spPr>
          <a:xfrm>
            <a:off x="4286707" y="1051228"/>
            <a:ext cx="3638398" cy="88685"/>
          </a:xfrm>
          <a:prstGeom prst="roundRect">
            <a:avLst>
              <a:gd name="adj" fmla="val 71140"/>
            </a:avLst>
          </a:prstGeom>
          <a:solidFill>
            <a:srgbClr val="319795"/>
          </a:solidFill>
          <a:ln w="12700">
            <a:solidFill>
              <a:srgbClr val="3197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8" name="Image 1" descr="preencoded.png">
            <a:extLst>
              <a:ext uri="{FF2B5EF4-FFF2-40B4-BE49-F238E27FC236}">
                <a16:creationId xmlns:a16="http://schemas.microsoft.com/office/drawing/2014/main" id="{9CBE3AD1-5312-BFD9-C992-3D9EA8E218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571500" y="2099129"/>
            <a:ext cx="3238805" cy="45719"/>
          </a:xfrm>
          <a:prstGeom prst="rect">
            <a:avLst/>
          </a:prstGeom>
        </p:spPr>
      </p:pic>
      <p:pic>
        <p:nvPicPr>
          <p:cNvPr id="129" name="Image 2" descr="preencoded.png">
            <a:extLst>
              <a:ext uri="{FF2B5EF4-FFF2-40B4-BE49-F238E27FC236}">
                <a16:creationId xmlns:a16="http://schemas.microsoft.com/office/drawing/2014/main" id="{75CB2AB3-A5E9-9F8A-ECDE-270CD448DE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4476902" y="2099129"/>
            <a:ext cx="3238805" cy="45719"/>
          </a:xfrm>
          <a:prstGeom prst="rect">
            <a:avLst/>
          </a:prstGeom>
        </p:spPr>
      </p:pic>
      <p:pic>
        <p:nvPicPr>
          <p:cNvPr id="130" name="Image 3" descr="preencoded.png">
            <a:extLst>
              <a:ext uri="{FF2B5EF4-FFF2-40B4-BE49-F238E27FC236}">
                <a16:creationId xmlns:a16="http://schemas.microsoft.com/office/drawing/2014/main" id="{83239D4F-730A-2B33-8C71-7161ACD781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8382305" y="2099129"/>
            <a:ext cx="3238805" cy="45719"/>
          </a:xfrm>
          <a:prstGeom prst="rect">
            <a:avLst/>
          </a:prstGeom>
        </p:spPr>
      </p:pic>
      <p:pic>
        <p:nvPicPr>
          <p:cNvPr id="131" name="Image 8" descr="preencoded.png">
            <a:extLst>
              <a:ext uri="{FF2B5EF4-FFF2-40B4-BE49-F238E27FC236}">
                <a16:creationId xmlns:a16="http://schemas.microsoft.com/office/drawing/2014/main" id="{B0BC2F63-8717-7677-BD90-EE5CAB2BB6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614477" y="1365780"/>
            <a:ext cx="200254" cy="351927"/>
          </a:xfrm>
          <a:prstGeom prst="rect">
            <a:avLst/>
          </a:prstGeom>
        </p:spPr>
      </p:pic>
      <p:sp>
        <p:nvSpPr>
          <p:cNvPr id="132" name="Text 20">
            <a:extLst>
              <a:ext uri="{FF2B5EF4-FFF2-40B4-BE49-F238E27FC236}">
                <a16:creationId xmlns:a16="http://schemas.microsoft.com/office/drawing/2014/main" id="{C093F874-AE9B-2CEB-7937-FC764A242EB2}"/>
              </a:ext>
            </a:extLst>
          </p:cNvPr>
          <p:cNvSpPr txBox="1"/>
          <p:nvPr/>
        </p:nvSpPr>
        <p:spPr>
          <a:xfrm>
            <a:off x="952805" y="1289886"/>
            <a:ext cx="2971800" cy="58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GraphSAGE</a:t>
            </a:r>
            <a:endParaRPr lang="en-US" sz="1600" dirty="0"/>
          </a:p>
        </p:txBody>
      </p:sp>
      <p:pic>
        <p:nvPicPr>
          <p:cNvPr id="137" name="Image 9" descr="preencoded.png">
            <a:extLst>
              <a:ext uri="{FF2B5EF4-FFF2-40B4-BE49-F238E27FC236}">
                <a16:creationId xmlns:a16="http://schemas.microsoft.com/office/drawing/2014/main" id="{0D943886-47B6-EB1E-95E0-AAAACC8F997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4490618" y="1365780"/>
            <a:ext cx="256946" cy="351927"/>
          </a:xfrm>
          <a:prstGeom prst="rect">
            <a:avLst/>
          </a:prstGeom>
        </p:spPr>
      </p:pic>
      <p:sp>
        <p:nvSpPr>
          <p:cNvPr id="138" name="Text 25">
            <a:extLst>
              <a:ext uri="{FF2B5EF4-FFF2-40B4-BE49-F238E27FC236}">
                <a16:creationId xmlns:a16="http://schemas.microsoft.com/office/drawing/2014/main" id="{7778CF36-9EB0-3806-E5BE-1F103B8C4405}"/>
              </a:ext>
            </a:extLst>
          </p:cNvPr>
          <p:cNvSpPr txBox="1"/>
          <p:nvPr/>
        </p:nvSpPr>
        <p:spPr>
          <a:xfrm>
            <a:off x="4858207" y="1289886"/>
            <a:ext cx="2971800" cy="58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GATv2</a:t>
            </a:r>
            <a:endParaRPr lang="en-US" sz="1600" dirty="0"/>
          </a:p>
        </p:txBody>
      </p:sp>
      <p:pic>
        <p:nvPicPr>
          <p:cNvPr id="143" name="Image 10" descr="preencoded.png">
            <a:extLst>
              <a:ext uri="{FF2B5EF4-FFF2-40B4-BE49-F238E27FC236}">
                <a16:creationId xmlns:a16="http://schemas.microsoft.com/office/drawing/2014/main" id="{A6FE86E1-A8E6-4E47-B12B-031BF309A10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8396021" y="1365780"/>
            <a:ext cx="256946" cy="351927"/>
          </a:xfrm>
          <a:prstGeom prst="rect">
            <a:avLst/>
          </a:prstGeom>
        </p:spPr>
      </p:pic>
      <p:sp>
        <p:nvSpPr>
          <p:cNvPr id="144" name="Text 30">
            <a:extLst>
              <a:ext uri="{FF2B5EF4-FFF2-40B4-BE49-F238E27FC236}">
                <a16:creationId xmlns:a16="http://schemas.microsoft.com/office/drawing/2014/main" id="{D7652DE8-7618-2C9E-C7C9-74FC2A799957}"/>
              </a:ext>
            </a:extLst>
          </p:cNvPr>
          <p:cNvSpPr txBox="1"/>
          <p:nvPr/>
        </p:nvSpPr>
        <p:spPr>
          <a:xfrm>
            <a:off x="8762695" y="1289886"/>
            <a:ext cx="3363163" cy="63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LAS-GNN </a:t>
            </a:r>
            <a:r>
              <a:rPr lang="en-US" sz="1200" b="1" dirty="0">
                <a:solidFill>
                  <a:srgbClr val="D69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(Domain-Specific)</a:t>
            </a:r>
            <a:endParaRPr lang="en-US" sz="1600" dirty="0"/>
          </a:p>
        </p:txBody>
      </p:sp>
      <p:sp>
        <p:nvSpPr>
          <p:cNvPr id="153" name="Text 12">
            <a:extLst>
              <a:ext uri="{FF2B5EF4-FFF2-40B4-BE49-F238E27FC236}">
                <a16:creationId xmlns:a16="http://schemas.microsoft.com/office/drawing/2014/main" id="{335E5F9A-4AFD-953E-4F72-E212655E500A}"/>
              </a:ext>
            </a:extLst>
          </p:cNvPr>
          <p:cNvSpPr txBox="1"/>
          <p:nvPr/>
        </p:nvSpPr>
        <p:spPr>
          <a:xfrm>
            <a:off x="9005615" y="2320344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AUPRC</a:t>
            </a:r>
            <a:endParaRPr lang="en-US" sz="1000" dirty="0"/>
          </a:p>
        </p:txBody>
      </p:sp>
      <p:sp>
        <p:nvSpPr>
          <p:cNvPr id="154" name="Text 14">
            <a:extLst>
              <a:ext uri="{FF2B5EF4-FFF2-40B4-BE49-F238E27FC236}">
                <a16:creationId xmlns:a16="http://schemas.microsoft.com/office/drawing/2014/main" id="{F9D07A8D-07C1-1469-E846-B9968281519D}"/>
              </a:ext>
            </a:extLst>
          </p:cNvPr>
          <p:cNvSpPr txBox="1"/>
          <p:nvPr/>
        </p:nvSpPr>
        <p:spPr>
          <a:xfrm>
            <a:off x="8991101" y="2583901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Precision</a:t>
            </a:r>
            <a:endParaRPr lang="en-US" sz="1000" dirty="0"/>
          </a:p>
        </p:txBody>
      </p:sp>
      <p:sp>
        <p:nvSpPr>
          <p:cNvPr id="155" name="Text 16">
            <a:extLst>
              <a:ext uri="{FF2B5EF4-FFF2-40B4-BE49-F238E27FC236}">
                <a16:creationId xmlns:a16="http://schemas.microsoft.com/office/drawing/2014/main" id="{B8E2F0CC-B056-F46E-2DFE-2ECC253377DE}"/>
              </a:ext>
            </a:extLst>
          </p:cNvPr>
          <p:cNvSpPr txBox="1"/>
          <p:nvPr/>
        </p:nvSpPr>
        <p:spPr>
          <a:xfrm>
            <a:off x="8991101" y="2844813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Recall</a:t>
            </a:r>
            <a:endParaRPr lang="en-US" sz="1000" dirty="0"/>
          </a:p>
        </p:txBody>
      </p:sp>
      <p:sp>
        <p:nvSpPr>
          <p:cNvPr id="156" name="Text 18">
            <a:extLst>
              <a:ext uri="{FF2B5EF4-FFF2-40B4-BE49-F238E27FC236}">
                <a16:creationId xmlns:a16="http://schemas.microsoft.com/office/drawing/2014/main" id="{2EEFC769-36AE-18D3-2E54-6799E96F526B}"/>
              </a:ext>
            </a:extLst>
          </p:cNvPr>
          <p:cNvSpPr txBox="1"/>
          <p:nvPr/>
        </p:nvSpPr>
        <p:spPr>
          <a:xfrm>
            <a:off x="8991101" y="3108370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F1-Score</a:t>
            </a:r>
            <a:endParaRPr lang="en-US" sz="1000" dirty="0"/>
          </a:p>
        </p:txBody>
      </p:sp>
      <p:sp>
        <p:nvSpPr>
          <p:cNvPr id="157" name="Text 12">
            <a:extLst>
              <a:ext uri="{FF2B5EF4-FFF2-40B4-BE49-F238E27FC236}">
                <a16:creationId xmlns:a16="http://schemas.microsoft.com/office/drawing/2014/main" id="{FE69537D-ECAC-9378-400A-BC81E3D98F84}"/>
              </a:ext>
            </a:extLst>
          </p:cNvPr>
          <p:cNvSpPr txBox="1"/>
          <p:nvPr/>
        </p:nvSpPr>
        <p:spPr>
          <a:xfrm>
            <a:off x="1142888" y="2340395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AUPRC</a:t>
            </a:r>
            <a:endParaRPr lang="en-US" sz="1000" dirty="0"/>
          </a:p>
        </p:txBody>
      </p:sp>
      <p:sp>
        <p:nvSpPr>
          <p:cNvPr id="158" name="Text 14">
            <a:extLst>
              <a:ext uri="{FF2B5EF4-FFF2-40B4-BE49-F238E27FC236}">
                <a16:creationId xmlns:a16="http://schemas.microsoft.com/office/drawing/2014/main" id="{E8552201-BA27-DD9C-9C4D-D51D1DE279B8}"/>
              </a:ext>
            </a:extLst>
          </p:cNvPr>
          <p:cNvSpPr txBox="1"/>
          <p:nvPr/>
        </p:nvSpPr>
        <p:spPr>
          <a:xfrm>
            <a:off x="1128517" y="2592169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Precision</a:t>
            </a:r>
            <a:endParaRPr lang="en-US" sz="1000" dirty="0"/>
          </a:p>
        </p:txBody>
      </p:sp>
      <p:sp>
        <p:nvSpPr>
          <p:cNvPr id="159" name="Text 16">
            <a:extLst>
              <a:ext uri="{FF2B5EF4-FFF2-40B4-BE49-F238E27FC236}">
                <a16:creationId xmlns:a16="http://schemas.microsoft.com/office/drawing/2014/main" id="{1E73454E-410C-B347-F624-CE77F45406DB}"/>
              </a:ext>
            </a:extLst>
          </p:cNvPr>
          <p:cNvSpPr txBox="1"/>
          <p:nvPr/>
        </p:nvSpPr>
        <p:spPr>
          <a:xfrm>
            <a:off x="1128517" y="2853081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Recall</a:t>
            </a:r>
            <a:endParaRPr lang="en-US" sz="1000" dirty="0"/>
          </a:p>
        </p:txBody>
      </p:sp>
      <p:sp>
        <p:nvSpPr>
          <p:cNvPr id="160" name="Text 18">
            <a:extLst>
              <a:ext uri="{FF2B5EF4-FFF2-40B4-BE49-F238E27FC236}">
                <a16:creationId xmlns:a16="http://schemas.microsoft.com/office/drawing/2014/main" id="{614FAF71-EB75-AAD3-0A57-5C5FAA9DB829}"/>
              </a:ext>
            </a:extLst>
          </p:cNvPr>
          <p:cNvSpPr txBox="1"/>
          <p:nvPr/>
        </p:nvSpPr>
        <p:spPr>
          <a:xfrm>
            <a:off x="1128517" y="3116638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Find-3000 F1-Score</a:t>
            </a:r>
            <a:endParaRPr lang="en-US" sz="1000" dirty="0"/>
          </a:p>
        </p:txBody>
      </p:sp>
      <p:sp>
        <p:nvSpPr>
          <p:cNvPr id="166" name="Text 13">
            <a:extLst>
              <a:ext uri="{FF2B5EF4-FFF2-40B4-BE49-F238E27FC236}">
                <a16:creationId xmlns:a16="http://schemas.microsoft.com/office/drawing/2014/main" id="{C97C5332-F61F-A87E-D002-07B8F3E10220}"/>
              </a:ext>
            </a:extLst>
          </p:cNvPr>
          <p:cNvSpPr txBox="1"/>
          <p:nvPr/>
        </p:nvSpPr>
        <p:spPr>
          <a:xfrm>
            <a:off x="2550962" y="2498130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0.995</a:t>
            </a:r>
            <a:endParaRPr lang="en-US" sz="1400" dirty="0">
              <a:solidFill>
                <a:srgbClr val="2D3748"/>
              </a:solidFill>
            </a:endParaRPr>
          </a:p>
        </p:txBody>
      </p:sp>
      <p:pic>
        <p:nvPicPr>
          <p:cNvPr id="169" name="Picture 19">
            <a:extLst>
              <a:ext uri="{FF2B5EF4-FFF2-40B4-BE49-F238E27FC236}">
                <a16:creationId xmlns:a16="http://schemas.microsoft.com/office/drawing/2014/main" id="{76ACC1E8-080C-3EB4-022B-EC6DA1AD919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" r="76680" b="-149996"/>
          <a:stretch>
            <a:fillRect/>
          </a:stretch>
        </p:blipFill>
        <p:spPr>
          <a:xfrm>
            <a:off x="614477" y="3642783"/>
            <a:ext cx="3072152" cy="90234"/>
          </a:xfrm>
          <a:prstGeom prst="rect">
            <a:avLst/>
          </a:prstGeom>
        </p:spPr>
      </p:pic>
      <p:pic>
        <p:nvPicPr>
          <p:cNvPr id="170" name="Picture 19">
            <a:extLst>
              <a:ext uri="{FF2B5EF4-FFF2-40B4-BE49-F238E27FC236}">
                <a16:creationId xmlns:a16="http://schemas.microsoft.com/office/drawing/2014/main" id="{18FEC682-8DF4-A177-50DA-5C2E7540CF4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" r="76680" b="-149996"/>
          <a:stretch>
            <a:fillRect/>
          </a:stretch>
        </p:blipFill>
        <p:spPr>
          <a:xfrm>
            <a:off x="4503079" y="3621208"/>
            <a:ext cx="3072152" cy="90234"/>
          </a:xfrm>
          <a:prstGeom prst="rect">
            <a:avLst/>
          </a:prstGeom>
        </p:spPr>
      </p:pic>
      <p:pic>
        <p:nvPicPr>
          <p:cNvPr id="171" name="Picture 19">
            <a:extLst>
              <a:ext uri="{FF2B5EF4-FFF2-40B4-BE49-F238E27FC236}">
                <a16:creationId xmlns:a16="http://schemas.microsoft.com/office/drawing/2014/main" id="{44E7DA3B-ACB7-FEDE-3AD5-DA6F485E230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" r="76680" b="-149996"/>
          <a:stretch>
            <a:fillRect/>
          </a:stretch>
        </p:blipFill>
        <p:spPr>
          <a:xfrm>
            <a:off x="8436603" y="3599237"/>
            <a:ext cx="3072152" cy="90234"/>
          </a:xfrm>
          <a:prstGeom prst="rect">
            <a:avLst/>
          </a:prstGeom>
        </p:spPr>
      </p:pic>
      <p:sp>
        <p:nvSpPr>
          <p:cNvPr id="172" name="Text 13">
            <a:extLst>
              <a:ext uri="{FF2B5EF4-FFF2-40B4-BE49-F238E27FC236}">
                <a16:creationId xmlns:a16="http://schemas.microsoft.com/office/drawing/2014/main" id="{A6672F29-B0EF-5FB6-CC27-D4B2FDD8A1F0}"/>
              </a:ext>
            </a:extLst>
          </p:cNvPr>
          <p:cNvSpPr txBox="1"/>
          <p:nvPr/>
        </p:nvSpPr>
        <p:spPr>
          <a:xfrm>
            <a:off x="6520922" y="2240182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0.332</a:t>
            </a:r>
            <a:endParaRPr lang="en-US" sz="1400" dirty="0"/>
          </a:p>
        </p:txBody>
      </p:sp>
      <p:sp>
        <p:nvSpPr>
          <p:cNvPr id="173" name="Text 13">
            <a:extLst>
              <a:ext uri="{FF2B5EF4-FFF2-40B4-BE49-F238E27FC236}">
                <a16:creationId xmlns:a16="http://schemas.microsoft.com/office/drawing/2014/main" id="{E9794F96-D461-960C-BCFF-03559E90F608}"/>
              </a:ext>
            </a:extLst>
          </p:cNvPr>
          <p:cNvSpPr txBox="1"/>
          <p:nvPr/>
        </p:nvSpPr>
        <p:spPr>
          <a:xfrm>
            <a:off x="10364561" y="2218321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0.666</a:t>
            </a:r>
            <a:endParaRPr lang="en-US" sz="1400" dirty="0"/>
          </a:p>
        </p:txBody>
      </p:sp>
      <p:sp>
        <p:nvSpPr>
          <p:cNvPr id="174" name="Text 13">
            <a:extLst>
              <a:ext uri="{FF2B5EF4-FFF2-40B4-BE49-F238E27FC236}">
                <a16:creationId xmlns:a16="http://schemas.microsoft.com/office/drawing/2014/main" id="{BA75697E-D2AA-A9CE-2D78-D7D41DA28804}"/>
              </a:ext>
            </a:extLst>
          </p:cNvPr>
          <p:cNvSpPr txBox="1"/>
          <p:nvPr/>
        </p:nvSpPr>
        <p:spPr>
          <a:xfrm>
            <a:off x="2550209" y="2753028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0.232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77" name="Text 13">
            <a:extLst>
              <a:ext uri="{FF2B5EF4-FFF2-40B4-BE49-F238E27FC236}">
                <a16:creationId xmlns:a16="http://schemas.microsoft.com/office/drawing/2014/main" id="{E8DA3E53-71F8-E1B1-9B21-3F655CCEF58A}"/>
              </a:ext>
            </a:extLst>
          </p:cNvPr>
          <p:cNvSpPr txBox="1"/>
          <p:nvPr/>
        </p:nvSpPr>
        <p:spPr>
          <a:xfrm>
            <a:off x="2557468" y="2992514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0.376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0" name="Text 12">
            <a:extLst>
              <a:ext uri="{FF2B5EF4-FFF2-40B4-BE49-F238E27FC236}">
                <a16:creationId xmlns:a16="http://schemas.microsoft.com/office/drawing/2014/main" id="{B5491EAF-8498-2FF8-7E35-0D7A55E4835C}"/>
              </a:ext>
            </a:extLst>
          </p:cNvPr>
          <p:cNvSpPr txBox="1"/>
          <p:nvPr/>
        </p:nvSpPr>
        <p:spPr>
          <a:xfrm>
            <a:off x="2655354" y="3378750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Pool </a:t>
            </a:r>
            <a:endParaRPr lang="en-US" sz="1000" dirty="0"/>
          </a:p>
        </p:txBody>
      </p:sp>
      <p:sp>
        <p:nvSpPr>
          <p:cNvPr id="181" name="Text 13">
            <a:extLst>
              <a:ext uri="{FF2B5EF4-FFF2-40B4-BE49-F238E27FC236}">
                <a16:creationId xmlns:a16="http://schemas.microsoft.com/office/drawing/2014/main" id="{0269AA6E-0C09-E159-8455-7CDBEBDF17CF}"/>
              </a:ext>
            </a:extLst>
          </p:cNvPr>
          <p:cNvSpPr txBox="1"/>
          <p:nvPr/>
        </p:nvSpPr>
        <p:spPr>
          <a:xfrm>
            <a:off x="6525345" y="2492850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0.995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2" name="Text 13">
            <a:extLst>
              <a:ext uri="{FF2B5EF4-FFF2-40B4-BE49-F238E27FC236}">
                <a16:creationId xmlns:a16="http://schemas.microsoft.com/office/drawing/2014/main" id="{06F33A9E-9B72-FEB8-57BE-BC8D55DA3059}"/>
              </a:ext>
            </a:extLst>
          </p:cNvPr>
          <p:cNvSpPr txBox="1"/>
          <p:nvPr/>
        </p:nvSpPr>
        <p:spPr>
          <a:xfrm>
            <a:off x="6524592" y="2747748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0.233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3" name="Text 13">
            <a:extLst>
              <a:ext uri="{FF2B5EF4-FFF2-40B4-BE49-F238E27FC236}">
                <a16:creationId xmlns:a16="http://schemas.microsoft.com/office/drawing/2014/main" id="{67EDC2E5-1A7D-1463-D82F-BBE04E2F94A1}"/>
              </a:ext>
            </a:extLst>
          </p:cNvPr>
          <p:cNvSpPr txBox="1"/>
          <p:nvPr/>
        </p:nvSpPr>
        <p:spPr>
          <a:xfrm>
            <a:off x="6531851" y="2987234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0.377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4" name="Text 13">
            <a:extLst>
              <a:ext uri="{FF2B5EF4-FFF2-40B4-BE49-F238E27FC236}">
                <a16:creationId xmlns:a16="http://schemas.microsoft.com/office/drawing/2014/main" id="{B78B5FC0-8890-750E-766C-750D45D39F99}"/>
              </a:ext>
            </a:extLst>
          </p:cNvPr>
          <p:cNvSpPr txBox="1"/>
          <p:nvPr/>
        </p:nvSpPr>
        <p:spPr>
          <a:xfrm>
            <a:off x="10379075" y="2485632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0.725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5" name="Text 13">
            <a:extLst>
              <a:ext uri="{FF2B5EF4-FFF2-40B4-BE49-F238E27FC236}">
                <a16:creationId xmlns:a16="http://schemas.microsoft.com/office/drawing/2014/main" id="{91B37B87-C0EB-039F-CA0B-E8F9B0BDB6EA}"/>
              </a:ext>
            </a:extLst>
          </p:cNvPr>
          <p:cNvSpPr txBox="1"/>
          <p:nvPr/>
        </p:nvSpPr>
        <p:spPr>
          <a:xfrm>
            <a:off x="10378322" y="2740530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0.398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86" name="Text 13">
            <a:extLst>
              <a:ext uri="{FF2B5EF4-FFF2-40B4-BE49-F238E27FC236}">
                <a16:creationId xmlns:a16="http://schemas.microsoft.com/office/drawing/2014/main" id="{DA740218-A152-43F6-FBD4-4224BD833333}"/>
              </a:ext>
            </a:extLst>
          </p:cNvPr>
          <p:cNvSpPr txBox="1"/>
          <p:nvPr/>
        </p:nvSpPr>
        <p:spPr>
          <a:xfrm>
            <a:off x="10385581" y="2994530"/>
            <a:ext cx="2477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0.514</a:t>
            </a:r>
            <a:endParaRPr lang="en-US" sz="1400" dirty="0">
              <a:solidFill>
                <a:srgbClr val="2D3748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5783AF-E53E-AE2B-7597-CA4EF4313FF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606" t="10115" r="2559"/>
          <a:stretch>
            <a:fillRect/>
          </a:stretch>
        </p:blipFill>
        <p:spPr>
          <a:xfrm>
            <a:off x="8294696" y="4009426"/>
            <a:ext cx="3450597" cy="13294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68F337C-3E5C-71B9-8000-9C10779527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45359" y="5028697"/>
            <a:ext cx="418420" cy="5969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EAA7ED-44C7-87B1-8D4B-BC67DE5B8D2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119" t="8532" r="3078"/>
          <a:stretch>
            <a:fillRect/>
          </a:stretch>
        </p:blipFill>
        <p:spPr>
          <a:xfrm>
            <a:off x="4491278" y="4000975"/>
            <a:ext cx="3298951" cy="13074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DA4A7C2-A3B8-1EB8-F5C4-B73F646D7B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00046" y="4985057"/>
            <a:ext cx="418420" cy="8882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896DCD8-36D3-1390-FDDF-1DA404A193B1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191" t="10573" r="2500" b="-1004"/>
          <a:stretch>
            <a:fillRect/>
          </a:stretch>
        </p:blipFill>
        <p:spPr>
          <a:xfrm>
            <a:off x="587634" y="4000975"/>
            <a:ext cx="3306275" cy="128859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F83362A-DE4E-97F3-65B9-39E6AC318E9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3931" y="4985057"/>
            <a:ext cx="418420" cy="6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0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348"/>
    </mc:Choice>
    <mc:Fallback xmlns="">
      <p:transition spd="slow" advTm="15334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1333195"/>
            <a:ext cx="7067398" cy="4304995"/>
          </a:xfrm>
          <a:prstGeom prst="roundRect">
            <a:avLst>
              <a:gd name="adj" fmla="val 752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5762549"/>
            <a:ext cx="7067398" cy="638251"/>
          </a:xfrm>
          <a:prstGeom prst="roundRect">
            <a:avLst>
              <a:gd name="adj" fmla="val 34213"/>
            </a:avLst>
          </a:prstGeom>
          <a:solidFill>
            <a:srgbClr val="F7FAFC"/>
          </a:solidFill>
          <a:ln w="127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9695" y="1393478"/>
            <a:ext cx="4248302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9695" y="1393478"/>
            <a:ext cx="47549" cy="1352398"/>
          </a:xfrm>
          <a:prstGeom prst="roundRect">
            <a:avLst>
              <a:gd name="adj" fmla="val 162513"/>
            </a:avLst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9695" y="2917783"/>
            <a:ext cx="4248302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619695" y="2917783"/>
            <a:ext cx="47549" cy="1352398"/>
          </a:xfrm>
          <a:prstGeom prst="roundRect">
            <a:avLst>
              <a:gd name="adj" fmla="val 162513"/>
            </a:avLst>
          </a:prstGeom>
          <a:solidFill>
            <a:srgbClr val="319795"/>
          </a:solidFill>
          <a:ln w="12700">
            <a:solidFill>
              <a:srgbClr val="3197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19695" y="4442088"/>
            <a:ext cx="4248302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619695" y="4442088"/>
            <a:ext cx="47549" cy="1352398"/>
          </a:xfrm>
          <a:prstGeom prst="roundRect">
            <a:avLst>
              <a:gd name="adj" fmla="val 162513"/>
            </a:avLst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43707" y="5935175"/>
            <a:ext cx="857707" cy="286207"/>
          </a:xfrm>
          <a:prstGeom prst="roundRect">
            <a:avLst>
              <a:gd name="adj" fmla="val 319489"/>
            </a:avLst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81305" y="190195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Part11. 실험 결과 비교 및 분석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381305" y="905256"/>
            <a:ext cx="11621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방법론별 성능 대조를 통한 최적의 하이브리드 탐지 모델 도출</a:t>
            </a:r>
            <a:endParaRPr lang="en-US" sz="13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702" y="1543507"/>
            <a:ext cx="190195" cy="19019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57707" y="1524305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모델 성능 비교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487217"/>
              </p:ext>
            </p:extLst>
          </p:nvPr>
        </p:nvGraphicFramePr>
        <p:xfrm>
          <a:off x="571500" y="1904695"/>
          <a:ext cx="6667805" cy="3481774"/>
        </p:xfrm>
        <a:graphic>
          <a:graphicData uri="http://schemas.openxmlformats.org/drawingml/2006/table">
            <a:tbl>
              <a:tblPr/>
              <a:tblGrid>
                <a:gridCol w="209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2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1A3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구분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1A3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피처 구성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1A3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Test AUPRC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1A3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Top-3000 F1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XGBoost (Baseline)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7180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노드 + 엣지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0.603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0.377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err="1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XGBoost</a:t>
                      </a:r>
                      <a:r>
                        <a:rPr lang="en-US" sz="112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(+ Graph Feature)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7180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노드 + 엣지 + 그래프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0.585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0.375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err="1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GraphSAGE</a:t>
                      </a:r>
                      <a:r>
                        <a:rPr lang="en-US" sz="112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(2-stage)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7180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노드 + 엣지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E53E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0.198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25" dirty="0">
                          <a:solidFill>
                            <a:srgbClr val="535E7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0.376</a:t>
                      </a:r>
                      <a:endParaRPr lang="en-US" altLang="ko-KR" sz="1125" dirty="0">
                        <a:solidFill>
                          <a:srgbClr val="535E7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GATv2 (2-stage)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7180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노드 + 엣지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E53E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0.332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25" dirty="0">
                          <a:solidFill>
                            <a:srgbClr val="535E7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0.377</a:t>
                      </a:r>
                      <a:endParaRPr lang="en-US" altLang="ko-KR" sz="1125" dirty="0">
                        <a:solidFill>
                          <a:srgbClr val="535E7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LAS-GNN (1-stage)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7180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노드 + 엣지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0.537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535E7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0.427</a:t>
                      </a:r>
                      <a:endParaRPr lang="en-US" sz="1125" dirty="0">
                        <a:solidFill>
                          <a:srgbClr val="535E7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1A3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LAS-GNN (2-stage)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노드 + 엣지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53E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0.666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rgbClr val="535E7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0.514</a:t>
                      </a:r>
                      <a:endParaRPr lang="en-US" altLang="ko-KR" sz="1500" b="1" dirty="0">
                        <a:solidFill>
                          <a:srgbClr val="535E7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646450" y="5877794"/>
            <a:ext cx="13908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(Baseline)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2000707" y="5935175"/>
            <a:ext cx="7434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0.603</a:t>
            </a:r>
            <a:endParaRPr lang="en-US" sz="16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2781605" y="5992782"/>
            <a:ext cx="152705" cy="17190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105302" y="5973580"/>
            <a:ext cx="9336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3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+ 10.4%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4209898" y="5992782"/>
            <a:ext cx="152705" cy="171907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4486046" y="6001926"/>
            <a:ext cx="171907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714646" y="5982724"/>
            <a:ext cx="15599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LAS-GNN (2-stage)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6143854" y="5916887"/>
            <a:ext cx="10287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0.666</a:t>
            </a:r>
            <a:endParaRPr lang="en-US" sz="19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7815377" y="1603790"/>
            <a:ext cx="219456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143646" y="1584588"/>
            <a:ext cx="35433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LAS-GNN의 압도적 우위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7810805" y="1917429"/>
            <a:ext cx="38862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GNN(SAGE, GATv2) 대비 월등한 성능을 기록.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거래 특유의 </a:t>
            </a: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방향성과 금액(가중치)을 </a:t>
            </a:r>
            <a:r>
              <a:rPr lang="en-US" sz="1100" b="1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반영한</a:t>
            </a: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b="1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특화 설계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자금세탁 탐지에 필수적임을 증명함.</a:t>
            </a:r>
            <a:endParaRPr lang="en-US" sz="11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7815377" y="3127181"/>
            <a:ext cx="219456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143646" y="3107978"/>
            <a:ext cx="35433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2-Stage 하이브리드의 승리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7810804" y="3441734"/>
            <a:ext cx="395234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GNN 모델에서 1-stage(MLP)보다 2-stage(XGBoost) 결합 시 성능이 향상됨. 신경망이 추출한 </a:t>
            </a: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'관계 임베딩'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트리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정교하게 분류해냄.</a:t>
            </a:r>
            <a:endParaRPr lang="en-US" sz="11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30007" y="4651485"/>
            <a:ext cx="190195" cy="19019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143646" y="4632283"/>
            <a:ext cx="35433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고도화 성공 (AUPRC +10.4%)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7810805" y="4966039"/>
            <a:ext cx="38862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피처만 활용한 XGBoost Baseline도 실무적으로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준수한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성능을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보였으나, </a:t>
            </a: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LAS-GNN의 구조적 특징 결합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</a:t>
            </a: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1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한계를 돌파하고 추가 성능 향상 달성.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267005" y="6476695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37" name="Image 1">
            <a:extLst>
              <a:ext uri="{FF2B5EF4-FFF2-40B4-BE49-F238E27FC236}">
                <a16:creationId xmlns:a16="http://schemas.microsoft.com/office/drawing/2014/main" id="{8F40D778-090D-B38A-D0E5-18103E48BEA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39" name="TextBox 7">
            <a:extLst>
              <a:ext uri="{FF2B5EF4-FFF2-40B4-BE49-F238E27FC236}">
                <a16:creationId xmlns:a16="http://schemas.microsoft.com/office/drawing/2014/main" id="{43E5E1B6-E346-E5F2-C07C-59B669833AAE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785"/>
    </mc:Choice>
    <mc:Fallback xmlns="">
      <p:transition spd="slow" advTm="13278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381306" y="1473872"/>
            <a:ext cx="11430000" cy="44690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014522" y="2325134"/>
            <a:ext cx="4953305" cy="1030472"/>
          </a:xfrm>
          <a:prstGeom prst="roundRect">
            <a:avLst>
              <a:gd name="adj" fmla="val 1421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14522" y="3492705"/>
            <a:ext cx="4953305" cy="2172776"/>
          </a:xfrm>
          <a:prstGeom prst="roundRect">
            <a:avLst>
              <a:gd name="adj" fmla="val 1421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6195974" y="2349142"/>
            <a:ext cx="4953305" cy="1464563"/>
          </a:xfrm>
          <a:prstGeom prst="roundRect">
            <a:avLst>
              <a:gd name="adj" fmla="val 1421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6195974" y="3991883"/>
            <a:ext cx="4953305" cy="1673597"/>
          </a:xfrm>
          <a:prstGeom prst="roundRect">
            <a:avLst>
              <a:gd name="adj" fmla="val 1421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 txBox="1"/>
          <p:nvPr/>
        </p:nvSpPr>
        <p:spPr>
          <a:xfrm>
            <a:off x="381305" y="190195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12. </a:t>
            </a:r>
            <a:r>
              <a:rPr lang="en-US" sz="21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임팩트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381305" y="1045932"/>
            <a:ext cx="11621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성과를 넘어 실무적 가치로의 전환 — </a:t>
            </a:r>
            <a:r>
              <a:rPr lang="en-US" sz="13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'거래의 모양(관계)'</a:t>
            </a: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학습하여 AML 탐지 성능과 </a:t>
            </a:r>
            <a:r>
              <a:rPr lang="en-US" sz="13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극대화</a:t>
            </a:r>
            <a:endParaRPr lang="en-US" sz="13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1622" y="1739622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014522" y="1701217"/>
            <a:ext cx="400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도입 시 비즈니스 임팩트</a:t>
            </a:r>
            <a:endParaRPr lang="en-US" sz="16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43122" y="2737270"/>
            <a:ext cx="209398" cy="209398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633571" y="2485883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자금 세탁 </a:t>
            </a:r>
            <a:r>
              <a:rPr lang="ko-KR" alt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적발력의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혁신적 도약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1633571" y="2782127"/>
            <a:ext cx="4267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LAS-GNN 2-stage 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모델을 통해 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AUPRC 0.666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달성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b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통계 기반 모델 대비 탐지 성능을 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10.4%p 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끌어올리며 </a:t>
            </a:r>
            <a:b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수천억 원 규모의 잠재적 불법 자금을 선제적으로 포착</a:t>
            </a:r>
            <a:endParaRPr lang="en-US" sz="10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53182" y="4415446"/>
            <a:ext cx="237744" cy="19019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633571" y="3765978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 금융 범죄 패턴 </a:t>
            </a:r>
            <a:r>
              <a:rPr lang="ko-KR" alt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탐지율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극대화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1633571" y="4222999"/>
            <a:ext cx="4267505" cy="134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자금을 모으고 다시 흩뿌리는 가장 교묘한 수법인 </a:t>
            </a:r>
            <a:b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GATHER-SCATTER 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패턴에서 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74.3%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높은 </a:t>
            </a:r>
            <a:r>
              <a:rPr lang="ko-KR" altLang="en-US" sz="1000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탐지율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(Recall)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기록하여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b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조직적 범죄의 뿌리를 찾아내는 강력한 단서를 제공</a:t>
            </a:r>
            <a:endParaRPr lang="en-US" altLang="ko-KR" sz="100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altLang="ko-KR" sz="100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FAN-OUT(72.6%), SCATTER-GATHER(67.4%) 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 주요 자금 은닉 수법 전반에서 평균 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70% 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수준의 탐지율을 확보하여 금융 보안의 사각지대를 제거합니다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buNone/>
            </a:pPr>
            <a:endParaRPr lang="en-US" sz="100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buNone/>
            </a:pPr>
            <a:endParaRPr lang="en-US" sz="10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24574" y="2964963"/>
            <a:ext cx="209398" cy="209398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815023" y="2634101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신종 범죄에 대한 가시성 확보</a:t>
            </a:r>
            <a:endParaRPr lang="en-US" sz="1200" dirty="0"/>
          </a:p>
        </p:txBody>
      </p:sp>
      <p:sp>
        <p:nvSpPr>
          <p:cNvPr id="39" name="Text 26"/>
          <p:cNvSpPr txBox="1"/>
          <p:nvPr/>
        </p:nvSpPr>
        <p:spPr>
          <a:xfrm>
            <a:off x="6835119" y="3040879"/>
            <a:ext cx="4267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룰 기반 시스템이 단 한 건도 잡지 못했던 비정형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(NONE) 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패턴을 </a:t>
            </a:r>
            <a:b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37.7%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 잡아냄으로써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날이 갈수록 변칙적으로 진화하는 </a:t>
            </a:r>
            <a:b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신종 자금 세탁 수법에 대한 독보적인 대응력 갖췄음</a:t>
            </a:r>
            <a:endParaRPr lang="en-US" sz="10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8"/>
          <a:srcRect t="-600" b="-600"/>
          <a:stretch/>
        </p:blipFill>
        <p:spPr>
          <a:xfrm>
            <a:off x="6438290" y="4761826"/>
            <a:ext cx="181051" cy="209398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6815023" y="4309472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금융 시스템의 신뢰도 및 규제 대응 강화</a:t>
            </a:r>
            <a:endParaRPr lang="en-US" sz="1200" dirty="0"/>
          </a:p>
        </p:txBody>
      </p:sp>
      <p:sp>
        <p:nvSpPr>
          <p:cNvPr id="42" name="Text 28"/>
          <p:cNvSpPr txBox="1"/>
          <p:nvPr/>
        </p:nvSpPr>
        <p:spPr>
          <a:xfrm>
            <a:off x="6815023" y="4831254"/>
            <a:ext cx="4267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금융 허브 수준의 그래프 기반 탐지 기술을 실무에 적용하여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b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 자금세탁방지기구</a:t>
            </a:r>
            <a: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(FATF) </a:t>
            </a: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등의 강화된 규제 가이드라인을 상회하는 </a:t>
            </a:r>
            <a:br>
              <a:rPr lang="en-US" altLang="ko-KR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국가적 차원의 강력한 금융 안전망 완성</a:t>
            </a:r>
            <a:endParaRPr lang="en-US" sz="1000" dirty="0"/>
          </a:p>
        </p:txBody>
      </p:sp>
      <p:sp>
        <p:nvSpPr>
          <p:cNvPr id="43" name="Text 29"/>
          <p:cNvSpPr txBox="1"/>
          <p:nvPr/>
        </p:nvSpPr>
        <p:spPr>
          <a:xfrm>
            <a:off x="267005" y="6476695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44" name="Image 1">
            <a:extLst>
              <a:ext uri="{FF2B5EF4-FFF2-40B4-BE49-F238E27FC236}">
                <a16:creationId xmlns:a16="http://schemas.microsoft.com/office/drawing/2014/main" id="{72B4E603-533E-C39A-9FCA-9C26A41EFE3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46" name="TextBox 7">
            <a:extLst>
              <a:ext uri="{FF2B5EF4-FFF2-40B4-BE49-F238E27FC236}">
                <a16:creationId xmlns:a16="http://schemas.microsoft.com/office/drawing/2014/main" id="{645DA411-98E2-82D6-5AF5-4E1F92A348E4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788"/>
    </mc:Choice>
    <mc:Fallback xmlns="">
      <p:transition spd="slow" advTm="10478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190902" y="1666951"/>
            <a:ext cx="7810805" cy="384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1305" y="2048256"/>
            <a:ext cx="3638398" cy="3000146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381305" y="2048256"/>
            <a:ext cx="3638398" cy="38405"/>
          </a:xfrm>
          <a:prstGeom prst="roundRect">
            <a:avLst>
              <a:gd name="adj" fmla="val 120937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6707" y="2048256"/>
            <a:ext cx="3638398" cy="3000146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6707" y="2048256"/>
            <a:ext cx="3638398" cy="38405"/>
          </a:xfrm>
          <a:prstGeom prst="roundRect">
            <a:avLst>
              <a:gd name="adj" fmla="val 120937"/>
            </a:avLst>
          </a:prstGeom>
          <a:solidFill>
            <a:srgbClr val="319795"/>
          </a:solidFill>
          <a:ln w="12700">
            <a:solidFill>
              <a:srgbClr val="3197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191195" y="2048256"/>
            <a:ext cx="3638398" cy="3000146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191195" y="2048256"/>
            <a:ext cx="3638398" cy="38405"/>
          </a:xfrm>
          <a:prstGeom prst="roundRect">
            <a:avLst>
              <a:gd name="adj" fmla="val 120937"/>
            </a:avLst>
          </a:prstGeom>
          <a:solidFill>
            <a:srgbClr val="DD6B20"/>
          </a:solidFill>
          <a:ln w="12700">
            <a:solidFill>
              <a:srgbClr val="DD6B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81305" y="5286146"/>
            <a:ext cx="11487607" cy="952805"/>
          </a:xfrm>
          <a:prstGeom prst="roundRect">
            <a:avLst>
              <a:gd name="adj" fmla="val 15355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81305" y="5286146"/>
            <a:ext cx="57607" cy="952805"/>
          </a:xfrm>
          <a:prstGeom prst="roundRect">
            <a:avLst>
              <a:gd name="adj" fmla="val 253969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62302" y="1438351"/>
            <a:ext cx="457200" cy="457200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67705" y="1438351"/>
            <a:ext cx="457200" cy="457200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73107" y="1438351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81305" y="190195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Part13. Future Plan: 지속 가능한 탐지 체계 구축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381305" y="952805"/>
            <a:ext cx="11621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고도화된 그래프 알고리즘 및 글로벌 컨텍스트 확장 연구를 통한 차세대 AML 생태계 완성</a:t>
            </a:r>
            <a:endParaRPr lang="en-US" sz="13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2081174" y="1571854"/>
            <a:ext cx="219456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76402" y="2389176"/>
            <a:ext cx="3429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구조 및 앙상블 심화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780898" y="3016302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(Ensemble) 전략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571500" y="3292450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통계 ML 모델과 그래프 특화 ML 모델의 </a:t>
            </a: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스태킹(Stacking)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시도를 통한 탐지 안정성 극대화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571500" y="3063850"/>
            <a:ext cx="133502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80898" y="3968192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경량화 모델 도입 검토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571500" y="4245255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탐지 환경을 고려하여 연산 속도가 빠른 </a:t>
            </a: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SGC, SIGN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고속 그래프 모델 테스트 및 적용</a:t>
            </a:r>
            <a:endParaRPr lang="en-US" sz="10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571500" y="4016655"/>
            <a:ext cx="133502" cy="152705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01207" y="1571854"/>
            <a:ext cx="190195" cy="190195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4381805" y="2389176"/>
            <a:ext cx="3429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방법론 및 대조학습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4686300" y="3016302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자기지도 대조학습 (SSL)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4476902" y="3292450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BGRL, GRACE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대조학습을 통해 정답(Label) 없이도 강력한 계좌 표현(Embedding) 생성 연구</a:t>
            </a:r>
            <a:endParaRPr lang="en-US" sz="10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4476902" y="3063850"/>
            <a:ext cx="133502" cy="15270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686300" y="3968192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특화 알고리즘 이식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4476902" y="4245255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FlowScope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(집중 흐름 탐지), </a:t>
            </a: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MonLAD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최신 논문에서 검증된 자금세탁 특화 탐지 로직 이식</a:t>
            </a:r>
            <a:endParaRPr lang="en-US" sz="10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4476902" y="4016655"/>
            <a:ext cx="133502" cy="152705"/>
          </a:xfrm>
          <a:prstGeom prst="rect">
            <a:avLst/>
          </a:prstGeom>
        </p:spPr>
      </p:pic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905695" y="1571854"/>
            <a:ext cx="190195" cy="19019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8287207" y="2389176"/>
            <a:ext cx="3429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컨텍스트 확장</a:t>
            </a:r>
            <a:endParaRPr lang="en-US" sz="1500" dirty="0"/>
          </a:p>
        </p:txBody>
      </p:sp>
      <p:sp>
        <p:nvSpPr>
          <p:cNvPr id="37" name="Text 24"/>
          <p:cNvSpPr txBox="1"/>
          <p:nvPr/>
        </p:nvSpPr>
        <p:spPr>
          <a:xfrm>
            <a:off x="8591702" y="3016302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정보 (Global Context) 주입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8382305" y="3292450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노드/엣지를 넘어 </a:t>
            </a: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전체의 거시적 통계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모델의 판단 근거로 반영</a:t>
            </a:r>
            <a:endParaRPr lang="en-US" sz="10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8382305" y="3063850"/>
            <a:ext cx="133502" cy="152705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8591702" y="3968192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온체인(On-chain) 데이터 결합</a:t>
            </a:r>
            <a:endParaRPr lang="en-US" sz="1200" dirty="0"/>
          </a:p>
        </p:txBody>
      </p:sp>
      <p:sp>
        <p:nvSpPr>
          <p:cNvPr id="41" name="Text 27"/>
          <p:cNvSpPr txBox="1"/>
          <p:nvPr/>
        </p:nvSpPr>
        <p:spPr>
          <a:xfrm>
            <a:off x="8382305" y="4245255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스테이블 코인 등 가상자산 흐름을 포함한 </a:t>
            </a: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전통-디지털 자산 하이브리드 금융망</a:t>
            </a: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추적 체계 연구</a:t>
            </a:r>
            <a:endParaRPr lang="en-US" sz="100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8382305" y="4016655"/>
            <a:ext cx="133502" cy="152705"/>
          </a:xfrm>
          <a:prstGeom prst="rect">
            <a:avLst/>
          </a:prstGeom>
        </p:spPr>
      </p:pic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3"/>
          <a:srcRect l="-881" r="-881"/>
          <a:stretch/>
        </p:blipFill>
        <p:spPr>
          <a:xfrm>
            <a:off x="642823" y="5486400"/>
            <a:ext cx="237744" cy="267005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1047902" y="5447995"/>
            <a:ext cx="110349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37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"단순히 성능이 좋은 모델을 넘어, </a:t>
            </a:r>
            <a:r>
              <a:rPr lang="en-US" sz="1200" b="1" kern="0" spc="-37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대비 10%p 이상의 AUPRC 개선</a:t>
            </a:r>
            <a:r>
              <a:rPr lang="en-US" sz="1200" b="1" kern="0" spc="-37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실제 현장에서 수천억 원의 범죄 자금 포착으로 이어집니다."</a:t>
            </a:r>
            <a:endParaRPr lang="en-US" sz="1200" dirty="0"/>
          </a:p>
        </p:txBody>
      </p:sp>
      <p:sp>
        <p:nvSpPr>
          <p:cNvPr id="45" name="Text 29"/>
          <p:cNvSpPr txBox="1"/>
          <p:nvPr/>
        </p:nvSpPr>
        <p:spPr>
          <a:xfrm>
            <a:off x="1047902" y="5810098"/>
            <a:ext cx="110267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프로젝트를 통해 금융 그래프의 가능성을 확인했으며, 향후 </a:t>
            </a: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대조학습(Contrastive Learning)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최신 기법을 통해 라벨 의존성 문제까지 혁신하겠습니다.</a:t>
            </a:r>
            <a:endParaRPr lang="en-US" sz="1100" dirty="0"/>
          </a:p>
        </p:txBody>
      </p:sp>
      <p:sp>
        <p:nvSpPr>
          <p:cNvPr id="46" name="Text 30"/>
          <p:cNvSpPr txBox="1"/>
          <p:nvPr/>
        </p:nvSpPr>
        <p:spPr>
          <a:xfrm>
            <a:off x="267005" y="6346068"/>
            <a:ext cx="1154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방법론을 활용한 AML 탐지 모델 성능 개선 | 팀 은결원</a:t>
            </a:r>
            <a:endParaRPr lang="en-US" sz="900" dirty="0"/>
          </a:p>
        </p:txBody>
      </p:sp>
      <p:pic>
        <p:nvPicPr>
          <p:cNvPr id="47" name="Image 1">
            <a:extLst>
              <a:ext uri="{FF2B5EF4-FFF2-40B4-BE49-F238E27FC236}">
                <a16:creationId xmlns:a16="http://schemas.microsoft.com/office/drawing/2014/main" id="{CD510F9B-4E88-B7B4-7A12-B95DF54D123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56158" b="-624"/>
          <a:stretch>
            <a:fillRect/>
          </a:stretch>
        </p:blipFill>
        <p:spPr>
          <a:xfrm>
            <a:off x="10623676" y="179905"/>
            <a:ext cx="480206" cy="466641"/>
          </a:xfrm>
          <a:prstGeom prst="rect">
            <a:avLst/>
          </a:prstGeom>
        </p:spPr>
      </p:pic>
      <p:sp>
        <p:nvSpPr>
          <p:cNvPr id="49" name="TextBox 7">
            <a:extLst>
              <a:ext uri="{FF2B5EF4-FFF2-40B4-BE49-F238E27FC236}">
                <a16:creationId xmlns:a16="http://schemas.microsoft.com/office/drawing/2014/main" id="{BDE40753-841B-6431-1FA1-9F59E89128B6}"/>
              </a:ext>
            </a:extLst>
          </p:cNvPr>
          <p:cNvSpPr txBox="1"/>
          <p:nvPr/>
        </p:nvSpPr>
        <p:spPr>
          <a:xfrm>
            <a:off x="11075536" y="203242"/>
            <a:ext cx="811664" cy="10153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000" b="1" i="0" u="none" strike="noStrike" dirty="0" err="1">
                <a:solidFill>
                  <a:schemeClr val="bg2"/>
                </a:solidFill>
                <a:effectLst>
                  <a:outerShdw blurRad="88900" dist="63500" dir="5400000" algn="t" rotWithShape="0">
                    <a:prstClr val="black">
                      <a:alpha val="40000"/>
                    </a:prstClr>
                  </a:outerShdw>
                  <a:reflection stA="45000" endPos="0" dist="50800" dir="5400000" sy="-100000" algn="bl" rotWithShape="0"/>
                </a:effectLst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은결원</a:t>
            </a:r>
            <a:endParaRPr lang="en-US" sz="2000" b="1" i="0" u="none" strike="noStrike" dirty="0">
              <a:solidFill>
                <a:schemeClr val="bg2"/>
              </a:solidFill>
              <a:effectLst>
                <a:outerShdw blurRad="88900" dist="63500" dir="5400000" algn="t" rotWithShape="0">
                  <a:prstClr val="black">
                    <a:alpha val="40000"/>
                  </a:prstClr>
                </a:outerShdw>
                <a:reflection stA="45000" endPos="0" dist="50800" dir="5400000" sy="-100000" algn="bl" rotWithShape="0"/>
              </a:effectLst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851"/>
    </mc:Choice>
    <mc:Fallback xmlns="">
      <p:transition spd="slow" advTm="11185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3346</Words>
  <Application>Microsoft Office PowerPoint</Application>
  <PresentationFormat>와이드스크린</PresentationFormat>
  <Paragraphs>510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Noto Sans KR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은별 조</cp:lastModifiedBy>
  <cp:revision>16</cp:revision>
  <dcterms:created xsi:type="dcterms:W3CDTF">2026-03-13T05:41:59Z</dcterms:created>
  <dcterms:modified xsi:type="dcterms:W3CDTF">2026-04-07T02:31:22Z</dcterms:modified>
</cp:coreProperties>
</file>